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ln w="31750">
              <a:solidFill>
                <a:srgbClr val="B58418"/>
              </a:solidFill>
            </a:ln>
          </c:spPr>
          <c:marker>
            <c:size val="6"/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8</c:v>
                </c:pt>
                <c:pt idx="4">
                  <c:v>15</c:v>
                </c:pt>
                <c:pt idx="5">
                  <c:v>28</c:v>
                </c:pt>
                <c:pt idx="6">
                  <c:v>42</c:v>
                </c:pt>
                <c:pt idx="7">
                  <c:v>58</c:v>
                </c:pt>
                <c:pt idx="8">
                  <c:v>73</c:v>
                </c:pt>
                <c:pt idx="9">
                  <c:v>90</c:v>
                </c:pt>
                <c:pt idx="10">
                  <c:v>105</c:v>
                </c:pt>
                <c:pt idx="11">
                  <c:v>125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비용</c:v>
                </c:pt>
              </c:strCache>
            </c:strRef>
          </c:tx>
          <c:spPr>
            <a:ln w="31750">
              <a:solidFill>
                <a:srgbClr val="5D697E"/>
              </a:solidFill>
            </a:ln>
          </c:spPr>
          <c:marker>
            <c:size val="6"/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78</c:v>
                </c:pt>
                <c:pt idx="1">
                  <c:v>82</c:v>
                </c:pt>
                <c:pt idx="2">
                  <c:v>86</c:v>
                </c:pt>
                <c:pt idx="3">
                  <c:v>90</c:v>
                </c:pt>
                <c:pt idx="4">
                  <c:v>94</c:v>
                </c:pt>
                <c:pt idx="5">
                  <c:v>98</c:v>
                </c:pt>
                <c:pt idx="6">
                  <c:v>101</c:v>
                </c:pt>
                <c:pt idx="7">
                  <c:v>104</c:v>
                </c:pt>
                <c:pt idx="8">
                  <c:v>107</c:v>
                </c:pt>
                <c:pt idx="9">
                  <c:v>110</c:v>
                </c:pt>
                <c:pt idx="10">
                  <c:v>113</c:v>
                </c:pt>
                <c:pt idx="11">
                  <c:v>116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93792"/>
            <a:ext cx="12191695" cy="1664208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21792"/>
            <a:ext cx="3154680" cy="329184"/>
          </a:xfrm>
          <a:prstGeom prst="roundRect">
            <a:avLst/>
          </a:prstGeom>
          <a:solidFill>
            <a:srgbClr val="FAF7F1"/>
          </a:solidFill>
          <a:ln>
            <a:solidFill>
              <a:srgbClr val="ECD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B58418"/>
                </a:solidFill>
                <a:latin typeface="Pretendard"/>
              </a:rPr>
              <a:t>LOCAL COMMUNITY NETWORK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121826"/>
                </a:solidFill>
                <a:latin typeface="Pretendard"/>
              </a:rPr>
              <a:t>ONtown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21826"/>
                </a:solidFill>
                <a:latin typeface="Pretendard"/>
              </a:rPr>
              <a:t>전국 지역 ON을 하나의 세계관으로 연결하는</a:t>
            </a:r>
            <a:br/>
            <a:r>
              <a:rPr sz="2300" b="1">
                <a:solidFill>
                  <a:srgbClr val="121826"/>
                </a:solidFill>
                <a:latin typeface="Pretendard"/>
              </a:rPr>
              <a:t>로컬 커뮤니티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154680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20" b="0">
                <a:solidFill>
                  <a:srgbClr val="5D697E"/>
                </a:solidFill>
                <a:latin typeface="Pretendard"/>
              </a:rPr>
              <a:t>강남ON에서 시작해 송파ON, 부산ON, 광주ON, 여수ON, 강릉ON으로 확장합니다.</a:t>
            </a:r>
            <a:br/>
            <a:r>
              <a:rPr sz="1320" b="0">
                <a:solidFill>
                  <a:srgbClr val="5D697E"/>
                </a:solidFill>
                <a:latin typeface="Pretendard"/>
              </a:rPr>
              <a:t>각 지역은 하나의 클랜이 되고, 사용자는 지역 태그와 미니홈피로 정체성을 쌓습니다.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914400"/>
            <a:ext cx="960120" cy="960120"/>
          </a:xfrm>
          <a:prstGeom prst="ellipse">
            <a:avLst/>
          </a:prstGeom>
          <a:solidFill>
            <a:srgbClr val="B5841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93852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21826"/>
                </a:solidFill>
                <a:latin typeface="Pretendard"/>
              </a:rPr>
              <a:t>강남ON</a:t>
            </a:r>
          </a:p>
        </p:txBody>
      </p:sp>
      <p:sp>
        <p:nvSpPr>
          <p:cNvPr id="10" name="Oval 9"/>
          <p:cNvSpPr/>
          <p:nvPr/>
        </p:nvSpPr>
        <p:spPr>
          <a:xfrm>
            <a:off x="9875520" y="1600200"/>
            <a:ext cx="960120" cy="960120"/>
          </a:xfrm>
          <a:prstGeom prst="ellipse">
            <a:avLst/>
          </a:prstGeom>
          <a:solidFill>
            <a:srgbClr val="0EA5E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38360" y="262432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21826"/>
                </a:solidFill>
                <a:latin typeface="Pretendard"/>
              </a:rPr>
              <a:t>여수ON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0" y="2651760"/>
            <a:ext cx="960120" cy="960120"/>
          </a:xfrm>
          <a:prstGeom prst="ellipse">
            <a:avLst/>
          </a:prstGeom>
          <a:solidFill>
            <a:srgbClr val="2663E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19" y="3675887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21826"/>
                </a:solidFill>
                <a:latin typeface="Pretendard"/>
              </a:rPr>
              <a:t>부산ON</a:t>
            </a:r>
          </a:p>
        </p:txBody>
      </p:sp>
      <p:sp>
        <p:nvSpPr>
          <p:cNvPr id="14" name="Oval 13"/>
          <p:cNvSpPr/>
          <p:nvPr/>
        </p:nvSpPr>
        <p:spPr>
          <a:xfrm>
            <a:off x="10195560" y="3429000"/>
            <a:ext cx="960120" cy="960120"/>
          </a:xfrm>
          <a:prstGeom prst="ellipse">
            <a:avLst/>
          </a:prstGeom>
          <a:solidFill>
            <a:srgbClr val="16A34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445312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21826"/>
                </a:solidFill>
                <a:latin typeface="Pretendard"/>
              </a:rPr>
              <a:t>강릉ON</a:t>
            </a:r>
          </a:p>
        </p:txBody>
      </p:sp>
      <p:sp>
        <p:nvSpPr>
          <p:cNvPr id="16" name="Oval 15"/>
          <p:cNvSpPr/>
          <p:nvPr/>
        </p:nvSpPr>
        <p:spPr>
          <a:xfrm>
            <a:off x="8001000" y="3794760"/>
            <a:ext cx="960120" cy="960120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81888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121826"/>
                </a:solidFill>
                <a:latin typeface="Pretendard"/>
              </a:rPr>
              <a:t>광주ON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14232" y="1399032"/>
            <a:ext cx="1645920" cy="685799"/>
          </a:xfrm>
          <a:prstGeom prst="line">
            <a:avLst/>
          </a:prstGeom>
          <a:ln w="19050">
            <a:solidFill>
              <a:srgbClr val="CC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714232" y="1399032"/>
            <a:ext cx="640080" cy="1737360"/>
          </a:xfrm>
          <a:prstGeom prst="line">
            <a:avLst/>
          </a:prstGeom>
          <a:ln w="19050">
            <a:solidFill>
              <a:srgbClr val="CC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54312" y="3136392"/>
            <a:ext cx="1325880" cy="777240"/>
          </a:xfrm>
          <a:prstGeom prst="line">
            <a:avLst/>
          </a:prstGeom>
          <a:ln w="19050">
            <a:solidFill>
              <a:srgbClr val="CC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485632" y="3136392"/>
            <a:ext cx="868680" cy="1143000"/>
          </a:xfrm>
          <a:prstGeom prst="line">
            <a:avLst/>
          </a:prstGeom>
          <a:ln w="19050">
            <a:solidFill>
              <a:srgbClr val="CC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580644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Seed Investment Proposal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1722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DAE0EB"/>
                </a:solidFill>
                <a:latin typeface="Pretendard"/>
              </a:rPr>
              <a:t>요청 투자금: 12억 원 / 목표 손익분기: 12개월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9BA3AF"/>
                </a:solidFill>
                <a:latin typeface="Pretendard"/>
              </a:rPr>
              <a:t>ONtown Investor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BA3AF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8418"/>
                </a:solidFill>
                <a:latin typeface="Pretendard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223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1826"/>
                </a:solidFill>
                <a:latin typeface="Pretendard"/>
              </a:rPr>
              <a:t>한 문장으로 보는 ONtown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8778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5D697E"/>
                </a:solidFill>
                <a:latin typeface="Pretendard"/>
              </a:rPr>
              <a:t>지역 커뮤니티, 여행 정보, 미니홈피, 랭킹 대회를 하나의 계정과 지역 태그로 연결합니다.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074920" cy="1060704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58418"/>
                </a:solidFill>
                <a:latin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2184" y="221284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지역별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2184" y="2560320"/>
            <a:ext cx="3886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0" b="0">
                <a:solidFill>
                  <a:srgbClr val="5D697E"/>
                </a:solidFill>
                <a:latin typeface="Pretendard"/>
              </a:rPr>
              <a:t>강남ON, 여수ON, 부산ON처럼 생활권별 커뮤니티를 독립 운영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074920" cy="1060704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22199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58418"/>
                </a:solidFill>
                <a:latin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4" y="221284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지역 태그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4304" y="2560320"/>
            <a:ext cx="3886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0" b="0">
                <a:solidFill>
                  <a:srgbClr val="5D697E"/>
                </a:solidFill>
                <a:latin typeface="Pretendard"/>
              </a:rPr>
              <a:t>강남 유저가 여수ON에 댓글을 달면 강남 태그가 표시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74720"/>
            <a:ext cx="5074920" cy="1060704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63931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58418"/>
                </a:solidFill>
                <a:latin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363016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미니홈피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2184" y="3977639"/>
            <a:ext cx="3886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0" b="0">
                <a:solidFill>
                  <a:srgbClr val="5D697E"/>
                </a:solidFill>
                <a:latin typeface="Pretendard"/>
              </a:rPr>
              <a:t>사용자의 정체성과 관계가 쌓이는 개인 공간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5074920" cy="1060704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63931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58418"/>
                </a:solidFill>
                <a:latin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4304" y="363016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클랜 경쟁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4" y="3977639"/>
            <a:ext cx="3886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0" b="0">
                <a:solidFill>
                  <a:srgbClr val="5D697E"/>
                </a:solidFill>
                <a:latin typeface="Pretendard"/>
              </a:rPr>
              <a:t>테트리스·얼짱 대회로 지역 대표와 전국 리그 구성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4924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21826"/>
                </a:solidFill>
                <a:latin typeface="Pretendard"/>
              </a:rPr>
              <a:t>투자 포인트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650992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19" b="0">
                <a:solidFill>
                  <a:srgbClr val="5D697E"/>
                </a:solidFill>
                <a:latin typeface="Pretendard"/>
              </a:rPr>
              <a:t>• 강남ON MVP를 기반으로 지역 복제 확장 가능</a:t>
            </a:r>
          </a:p>
          <a:p>
            <a:pPr>
              <a:spcAft>
                <a:spcPts val="100"/>
              </a:spcAft>
            </a:pPr>
            <a:r>
              <a:rPr sz="1019" b="0">
                <a:solidFill>
                  <a:srgbClr val="5D697E"/>
                </a:solidFill>
                <a:latin typeface="Pretendard"/>
              </a:rPr>
              <a:t>• 지역 간 이동·관심 데이터가 누적되는 구조</a:t>
            </a:r>
          </a:p>
          <a:p>
            <a:pPr>
              <a:spcAft>
                <a:spcPts val="100"/>
              </a:spcAft>
            </a:pPr>
            <a:r>
              <a:rPr sz="1019" b="0">
                <a:solidFill>
                  <a:srgbClr val="5D697E"/>
                </a:solidFill>
                <a:latin typeface="Pretendard"/>
              </a:rPr>
              <a:t>• 광고·ON 재화·상점 입점·스폰서십으로 수익 다각화</a:t>
            </a:r>
          </a:p>
          <a:p>
            <a:pPr>
              <a:spcAft>
                <a:spcPts val="100"/>
              </a:spcAft>
            </a:pPr>
            <a:r>
              <a:rPr sz="1019" b="0">
                <a:solidFill>
                  <a:srgbClr val="5D697E"/>
                </a:solidFill>
                <a:latin typeface="Pretendard"/>
              </a:rPr>
              <a:t>• 12개월 내 월 손익분기 목표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9BA3AF"/>
                </a:solidFill>
                <a:latin typeface="Pretendard"/>
              </a:rPr>
              <a:t>ONtown Investor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BA3AF"/>
                </a:solidFill>
                <a:latin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8418"/>
                </a:solidFill>
                <a:latin typeface="Pretendard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223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1826"/>
                </a:solidFill>
                <a:latin typeface="Pretendard"/>
              </a:rPr>
              <a:t>지역 서비스는 많지만, 지역은 아직 연결되지 않았습니다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2487168" cy="2999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2128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58418"/>
                </a:solidFill>
                <a:latin typeface="Pretendar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6974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정보 분산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24612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0" b="0">
                <a:solidFill>
                  <a:srgbClr val="5D697E"/>
                </a:solidFill>
                <a:latin typeface="Pretendard"/>
              </a:rPr>
              <a:t>맛집은 블로그, 관광은 검색, 모임은 오픈채팅, 거래는 당근에 흩어져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965960"/>
            <a:ext cx="2487168" cy="2999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2128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58418"/>
                </a:solidFill>
                <a:latin typeface="Pretendar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974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정체성 부재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24612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0" b="0">
                <a:solidFill>
                  <a:srgbClr val="5D697E"/>
                </a:solidFill>
                <a:latin typeface="Pretendard"/>
              </a:rPr>
              <a:t>기존 로컬 서비스는 거래·게시글 중심이라 사용자가 누구인지 쌓이지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965960"/>
            <a:ext cx="2487168" cy="2999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2128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58418"/>
                </a:solidFill>
                <a:latin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6974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외지인 데이터 공백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24612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0" b="0">
                <a:solidFill>
                  <a:srgbClr val="5D697E"/>
                </a:solidFill>
                <a:latin typeface="Pretendard"/>
              </a:rPr>
              <a:t>강남 사람이 여수에서 무엇을 좋아하는지, 어떤 장소를 저장하는지 보이지 않습니다.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1965960"/>
            <a:ext cx="2487168" cy="2999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22128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58418"/>
                </a:solidFill>
                <a:latin typeface="Pretendar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26974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소속감 부족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3246120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0" b="0">
                <a:solidFill>
                  <a:srgbClr val="5D697E"/>
                </a:solidFill>
                <a:latin typeface="Pretendard"/>
              </a:rPr>
              <a:t>지역을 대표하고 경쟁하는 구조가 약해 팬덤과 재방문 동기가 부족합니다.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32120"/>
            <a:ext cx="9509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21826"/>
                </a:solidFill>
                <a:latin typeface="Pretendard"/>
              </a:rPr>
              <a:t>ONtown은 지역 내부 커뮤니티와 지역 간 이동 데이터를 동시에 잡습니다.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9BA3AF"/>
                </a:solidFill>
                <a:latin typeface="Pretendard"/>
              </a:rPr>
              <a:t>ONtown Investor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BA3AF"/>
                </a:solidFill>
                <a:latin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8418"/>
                </a:solidFill>
                <a:latin typeface="Pretendard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223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1826"/>
                </a:solidFill>
                <a:latin typeface="Pretendard"/>
              </a:rPr>
              <a:t>지역 ON은 하나의 클랜, ONtown은 전국 네트워크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057400" cy="1143000"/>
          </a:xfrm>
          <a:prstGeom prst="roundRect">
            <a:avLst/>
          </a:prstGeom>
          <a:solidFill>
            <a:srgbClr val="FAF7F1"/>
          </a:solidFill>
          <a:ln w="10160">
            <a:solidFill>
              <a:srgbClr val="B58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957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21826"/>
                </a:solidFill>
                <a:latin typeface="Pretendard"/>
              </a:rPr>
              <a:t>강남ON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614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5D697E"/>
                </a:solidFill>
                <a:latin typeface="Pretendard"/>
              </a:rPr>
              <a:t>소속/생활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98648" y="2724912"/>
            <a:ext cx="594360" cy="0"/>
          </a:xfrm>
          <a:prstGeom prst="line">
            <a:avLst/>
          </a:prstGeom>
          <a:ln w="25400">
            <a:solidFill>
              <a:srgbClr val="B58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>
            <a:off x="3401568" y="2651760"/>
            <a:ext cx="146304" cy="146304"/>
          </a:xfrm>
          <a:prstGeom prst="rtTriangle">
            <a:avLst/>
          </a:prstGeom>
          <a:solidFill>
            <a:srgbClr val="B58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2148840"/>
            <a:ext cx="2057400" cy="1143000"/>
          </a:xfrm>
          <a:prstGeom prst="roundRect">
            <a:avLst/>
          </a:prstGeom>
          <a:solidFill>
            <a:srgbClr val="FAF7F1"/>
          </a:solidFill>
          <a:ln w="10160">
            <a:solidFill>
              <a:srgbClr val="B58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23957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21826"/>
                </a:solidFill>
                <a:latin typeface="Pretendard"/>
              </a:rPr>
              <a:t>여수ON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7614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5D697E"/>
                </a:solidFill>
                <a:latin typeface="Pretendard"/>
              </a:rPr>
              <a:t>출장/여행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41848" y="2724912"/>
            <a:ext cx="594360" cy="0"/>
          </a:xfrm>
          <a:prstGeom prst="line">
            <a:avLst/>
          </a:prstGeom>
          <a:ln w="25400">
            <a:solidFill>
              <a:srgbClr val="B58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ight Triangle 13"/>
          <p:cNvSpPr/>
          <p:nvPr/>
        </p:nvSpPr>
        <p:spPr>
          <a:xfrm>
            <a:off x="6144768" y="2651760"/>
            <a:ext cx="146304" cy="146304"/>
          </a:xfrm>
          <a:prstGeom prst="rtTriangle">
            <a:avLst/>
          </a:prstGeom>
          <a:solidFill>
            <a:srgbClr val="B58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2148840"/>
            <a:ext cx="2057400" cy="1143000"/>
          </a:xfrm>
          <a:prstGeom prst="roundRect">
            <a:avLst/>
          </a:prstGeom>
          <a:solidFill>
            <a:srgbClr val="FAF7F1"/>
          </a:solidFill>
          <a:ln w="10160">
            <a:solidFill>
              <a:srgbClr val="B58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3957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21826"/>
                </a:solidFill>
                <a:latin typeface="Pretendard"/>
              </a:rPr>
              <a:t>부산ON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7614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5D697E"/>
                </a:solidFill>
                <a:latin typeface="Pretendard"/>
              </a:rPr>
              <a:t>관광/상권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85048" y="2724912"/>
            <a:ext cx="594360" cy="0"/>
          </a:xfrm>
          <a:prstGeom prst="line">
            <a:avLst/>
          </a:prstGeom>
          <a:ln w="25400">
            <a:solidFill>
              <a:srgbClr val="B58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Triangle 18"/>
          <p:cNvSpPr/>
          <p:nvPr/>
        </p:nvSpPr>
        <p:spPr>
          <a:xfrm>
            <a:off x="8887968" y="2651760"/>
            <a:ext cx="146304" cy="146304"/>
          </a:xfrm>
          <a:prstGeom prst="rtTriangle">
            <a:avLst/>
          </a:prstGeom>
          <a:solidFill>
            <a:srgbClr val="B58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560" y="2148840"/>
            <a:ext cx="2057400" cy="1143000"/>
          </a:xfrm>
          <a:prstGeom prst="roundRect">
            <a:avLst/>
          </a:prstGeom>
          <a:solidFill>
            <a:srgbClr val="0C1220"/>
          </a:solidFill>
          <a:ln w="10160">
            <a:solidFill>
              <a:srgbClr val="0C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2288" y="23957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retendard"/>
              </a:rPr>
              <a:t>전국 ONtown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27614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D2D8E2"/>
                </a:solidFill>
                <a:latin typeface="Pretendard"/>
              </a:rPr>
              <a:t>리그/데이터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97763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1826"/>
                </a:solidFill>
                <a:latin typeface="Pretendard"/>
              </a:rPr>
              <a:t>예시: 강남ON 가입자가 여수ON 맛집 글에 댓글을 달면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407408"/>
            <a:ext cx="10424160" cy="84124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64515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826"/>
                </a:solidFill>
                <a:latin typeface="Pretendard"/>
              </a:rPr>
              <a:t>[강남] 벨기에쪼꼬렛  “출장 가면 여기 점심으로 좋겠네요. 카페 분위기도 궁금합니다.”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010912"/>
            <a:ext cx="9509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0" b="0">
                <a:solidFill>
                  <a:srgbClr val="5D697E"/>
                </a:solidFill>
                <a:latin typeface="Pretendard"/>
              </a:rPr>
              <a:t>이 댓글 하나가 “외지인 관심”, “강남 유저 취향”, “여수 상권 반응” 데이터로 누적됩니다.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9BA3AF"/>
                </a:solidFill>
                <a:latin typeface="Pretendard"/>
              </a:rPr>
              <a:t>ONtown Investor Deck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BA3AF"/>
                </a:solidFill>
                <a:latin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8418"/>
                </a:solidFill>
                <a:latin typeface="Pretendard"/>
              </a:rPr>
              <a:t>WORLDVIEW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223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1826"/>
                </a:solidFill>
                <a:latin typeface="Pretendard"/>
              </a:rPr>
              <a:t>ONtown의 세계관: 지역 태그가 만드는 전국 클랜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0233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21826"/>
                </a:solidFill>
                <a:latin typeface="Pretendard"/>
              </a:rPr>
              <a:t>• 지역별 ON은 독립 커뮤니티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21826"/>
                </a:solidFill>
                <a:latin typeface="Pretendard"/>
              </a:rPr>
              <a:t>• 사용자는 기본 소속 지역 태그 보유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21826"/>
                </a:solidFill>
                <a:latin typeface="Pretendard"/>
              </a:rPr>
              <a:t>• 다른 지역 활동 시 소속 태그 표시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21826"/>
                </a:solidFill>
                <a:latin typeface="Pretendard"/>
              </a:rPr>
              <a:t>• 지역 간 댓글·저장·조회 데이터 축적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21826"/>
                </a:solidFill>
                <a:latin typeface="Pretendard"/>
              </a:rPr>
              <a:t>• 랭킹과 대회로 지역 클랜 경쟁 형성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828800"/>
            <a:ext cx="10972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D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9933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58418"/>
                </a:solidFill>
                <a:latin typeface="Pretendard"/>
              </a:rPr>
              <a:t>서울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10972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D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9933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58418"/>
                </a:solidFill>
                <a:latin typeface="Pretendard"/>
              </a:rPr>
              <a:t>경기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828800"/>
            <a:ext cx="10972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D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933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58418"/>
                </a:solidFill>
                <a:latin typeface="Pretendard"/>
              </a:rPr>
              <a:t>충청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60" y="1828800"/>
            <a:ext cx="10972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D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38360" y="19933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58418"/>
                </a:solidFill>
                <a:latin typeface="Pretendard"/>
              </a:rPr>
              <a:t>전라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2788920"/>
            <a:ext cx="10972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D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953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58418"/>
                </a:solidFill>
                <a:latin typeface="Pretendard"/>
              </a:rPr>
              <a:t>광주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788920"/>
            <a:ext cx="10972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D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2953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58418"/>
                </a:solidFill>
                <a:latin typeface="Pretendard"/>
              </a:rPr>
              <a:t>강원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788920"/>
            <a:ext cx="10972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D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953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58418"/>
                </a:solidFill>
                <a:latin typeface="Pretendard"/>
              </a:rPr>
              <a:t>부산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2788920"/>
            <a:ext cx="10972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D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29535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58418"/>
                </a:solidFill>
                <a:latin typeface="Pretendard"/>
              </a:rPr>
              <a:t>경남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60" y="3794760"/>
            <a:ext cx="1417320" cy="502920"/>
          </a:xfrm>
          <a:prstGeom prst="roundRect">
            <a:avLst/>
          </a:prstGeom>
          <a:solidFill>
            <a:srgbClr val="0C1220"/>
          </a:solidFill>
          <a:ln w="10160">
            <a:solidFill>
              <a:srgbClr val="0C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394106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retendard"/>
              </a:rPr>
              <a:t>강남ON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3794760"/>
            <a:ext cx="1417320" cy="502920"/>
          </a:xfrm>
          <a:prstGeom prst="roundRect">
            <a:avLst/>
          </a:prstGeom>
          <a:solidFill>
            <a:srgbClr val="0C1220"/>
          </a:solidFill>
          <a:ln w="10160">
            <a:solidFill>
              <a:srgbClr val="0C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394106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retendard"/>
              </a:rPr>
              <a:t>송파ON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3794760"/>
            <a:ext cx="1417320" cy="502920"/>
          </a:xfrm>
          <a:prstGeom prst="roundRect">
            <a:avLst/>
          </a:prstGeom>
          <a:solidFill>
            <a:srgbClr val="0C1220"/>
          </a:solidFill>
          <a:ln w="10160">
            <a:solidFill>
              <a:srgbClr val="0C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394106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retendard"/>
              </a:rPr>
              <a:t>여수ON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4572000"/>
            <a:ext cx="1417320" cy="502920"/>
          </a:xfrm>
          <a:prstGeom prst="roundRect">
            <a:avLst/>
          </a:prstGeom>
          <a:solidFill>
            <a:srgbClr val="0C1220"/>
          </a:solidFill>
          <a:ln w="10160">
            <a:solidFill>
              <a:srgbClr val="0C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471830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retendard"/>
              </a:rPr>
              <a:t>강릉ON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0" y="4572000"/>
            <a:ext cx="1417320" cy="502920"/>
          </a:xfrm>
          <a:prstGeom prst="roundRect">
            <a:avLst/>
          </a:prstGeom>
          <a:solidFill>
            <a:srgbClr val="0C1220"/>
          </a:solidFill>
          <a:ln w="10160">
            <a:solidFill>
              <a:srgbClr val="0C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471830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retendard"/>
              </a:rPr>
              <a:t>부산ON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4572000"/>
            <a:ext cx="1417320" cy="502920"/>
          </a:xfrm>
          <a:prstGeom prst="roundRect">
            <a:avLst/>
          </a:prstGeom>
          <a:solidFill>
            <a:srgbClr val="0C1220"/>
          </a:solidFill>
          <a:ln w="10160">
            <a:solidFill>
              <a:srgbClr val="0C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471830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retendard"/>
              </a:rPr>
              <a:t>광주ON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715000"/>
            <a:ext cx="89611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1826"/>
                </a:solidFill>
                <a:latin typeface="Pretendard"/>
              </a:rPr>
              <a:t>지역은 게시판이 아니라, 사용자가 소속감을 느끼고 대표성을 갖는 클랜입니다.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9BA3AF"/>
                </a:solidFill>
                <a:latin typeface="Pretendard"/>
              </a:rPr>
              <a:t>ONtown Investor Deck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BA3AF"/>
                </a:solidFill>
                <a:latin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8418"/>
                </a:solidFill>
                <a:latin typeface="Pretendard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223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1826"/>
                </a:solidFill>
                <a:latin typeface="Pretendard"/>
              </a:rPr>
              <a:t>핵심 제품 구조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33756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116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지역 ON 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395728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0" b="0">
                <a:solidFill>
                  <a:srgbClr val="5D697E"/>
                </a:solidFill>
                <a:latin typeface="Pretendard"/>
              </a:rPr>
              <a:t>맛집·카페·관광·생활정보·모임·중고거래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1828800"/>
            <a:ext cx="333756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7" y="20116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지역 태그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7" y="2395728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0" b="0">
                <a:solidFill>
                  <a:srgbClr val="5D697E"/>
                </a:solidFill>
                <a:latin typeface="Pretendard"/>
              </a:rPr>
              <a:t>댓글/저장/조회에 소속 지역이 연결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19" y="1828800"/>
            <a:ext cx="333756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20116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미니홈피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2395728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0" b="0">
                <a:solidFill>
                  <a:srgbClr val="5D697E"/>
                </a:solidFill>
                <a:latin typeface="Pretendard"/>
              </a:rPr>
              <a:t>BGM, 방명록, 일상 피드, 일촌, 파도타기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83280"/>
            <a:ext cx="333756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5661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ON 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950208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0" b="0">
                <a:solidFill>
                  <a:srgbClr val="5D697E"/>
                </a:solidFill>
                <a:latin typeface="Pretendard"/>
              </a:rPr>
              <a:t>꾸미기, 슬롯, 부스팅, 대회 참가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79" y="3383280"/>
            <a:ext cx="333756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7447" y="35661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지역 랭킹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7" y="3950208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0" b="0">
                <a:solidFill>
                  <a:srgbClr val="5D697E"/>
                </a:solidFill>
                <a:latin typeface="Pretendard"/>
              </a:rPr>
              <a:t>활동 점수, 동네 등급, 클랜 순위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19" y="3383280"/>
            <a:ext cx="3337560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6488" y="35661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대회/이벤트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6488" y="3950208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70" b="0">
                <a:solidFill>
                  <a:srgbClr val="5D697E"/>
                </a:solidFill>
                <a:latin typeface="Pretendard"/>
              </a:rPr>
              <a:t>테트리스, 얼짱, 로컬 챌린지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9BA3AF"/>
                </a:solidFill>
                <a:latin typeface="Pretendard"/>
              </a:rPr>
              <a:t>ONtown Investor 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BA3AF"/>
                </a:solidFill>
                <a:latin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8418"/>
                </a:solidFill>
                <a:latin typeface="Pretendard"/>
              </a:rPr>
              <a:t>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223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1826"/>
                </a:solidFill>
                <a:latin typeface="Pretendard"/>
              </a:rPr>
              <a:t>사용자 시나리오: 강남 사람이 여수에 가는 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47548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3852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B58418"/>
                </a:solidFill>
                <a:latin typeface="Pretendard"/>
              </a:rPr>
              <a:t>1. 강남ON 가입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9476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D697E"/>
                </a:solidFill>
                <a:latin typeface="Pretendard"/>
              </a:rPr>
              <a:t>사용자는 강남 태그와 미니홈피를 가진다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47548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9864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B58418"/>
                </a:solidFill>
                <a:latin typeface="Pretendard"/>
              </a:rPr>
              <a:t>2. 여수ON 방문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9077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D697E"/>
                </a:solidFill>
                <a:latin typeface="Pretendard"/>
              </a:rPr>
              <a:t>출장 전 맛집·카페·관광 정보를 확인한다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03320"/>
            <a:ext cx="47548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587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B58418"/>
                </a:solidFill>
                <a:latin typeface="Pretendard"/>
              </a:rPr>
              <a:t>3. 댓글/저장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867911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D697E"/>
                </a:solidFill>
                <a:latin typeface="Pretendard"/>
              </a:rPr>
              <a:t>여수 콘텐츠에 강남 태그가 붙은 반응을 남긴다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63440"/>
            <a:ext cx="47548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81888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B58418"/>
                </a:solidFill>
                <a:latin typeface="Pretendard"/>
              </a:rPr>
              <a:t>4. 데이터 축적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82803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D697E"/>
                </a:solidFill>
                <a:latin typeface="Pretendard"/>
              </a:rPr>
              <a:t>여수ON은 외지인 선호와 현지인 추천을 함께 보여준다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828800"/>
            <a:ext cx="4526280" cy="3611880"/>
          </a:xfrm>
          <a:prstGeom prst="roundRect">
            <a:avLst/>
          </a:prstGeom>
          <a:solidFill>
            <a:srgbClr val="0C1220"/>
          </a:solidFill>
          <a:ln w="10160">
            <a:solidFill>
              <a:srgbClr val="0C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15798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retendard"/>
              </a:rPr>
              <a:t>여수ON에서 가능한 인사이트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788920"/>
            <a:ext cx="370332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DDE2EB"/>
                </a:solidFill>
                <a:latin typeface="Pretendard"/>
              </a:rPr>
              <a:t>• 강남 유저가 저장한 여수 맛집 TOP 10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DE2EB"/>
                </a:solidFill>
                <a:latin typeface="Pretendard"/>
              </a:rPr>
              <a:t>• 서울권 출장자가 많이 본 카페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DE2EB"/>
                </a:solidFill>
                <a:latin typeface="Pretendard"/>
              </a:rPr>
              <a:t>• 현지인이 추천했지만 외지인 반응도 높은 장소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DDE2EB"/>
                </a:solidFill>
                <a:latin typeface="Pretendard"/>
              </a:rPr>
              <a:t>• 지역별 방문·저장·댓글 전환 데이터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80060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E1AA2E"/>
                </a:solidFill>
                <a:latin typeface="Pretendard"/>
              </a:rPr>
              <a:t>검색 결과가 아니라 “지역 간 반응 데이터”가 ONtown의 자산입니다.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9BA3AF"/>
                </a:solidFill>
                <a:latin typeface="Pretendard"/>
              </a:rPr>
              <a:t>ONtown Investor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BA3AF"/>
                </a:solidFill>
                <a:latin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8418"/>
                </a:solidFill>
                <a:latin typeface="Pretendard"/>
              </a:rPr>
              <a:t>GROWTH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223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1826"/>
                </a:solidFill>
                <a:latin typeface="Pretendard"/>
              </a:rPr>
              <a:t>성장 루프: 콘텐츠 → 정체성 → 경쟁 → 수익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960120"/>
            <a:ext cx="1920240" cy="822960"/>
          </a:xfrm>
          <a:prstGeom prst="roundRect">
            <a:avLst/>
          </a:prstGeom>
          <a:solidFill>
            <a:srgbClr val="FAF7F1"/>
          </a:solidFill>
          <a:ln w="10160">
            <a:solidFill>
              <a:srgbClr val="B58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111556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21826"/>
                </a:solidFill>
                <a:latin typeface="Pretendard"/>
              </a:rPr>
              <a:t>콘텐츠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8656" y="1435608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80" b="0">
                <a:solidFill>
                  <a:srgbClr val="5D697E"/>
                </a:solidFill>
                <a:latin typeface="Pretendard"/>
              </a:rPr>
              <a:t>지역 맛집/카페/관광/모임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77343" y="2381748"/>
            <a:ext cx="1920240" cy="822960"/>
          </a:xfrm>
          <a:prstGeom prst="roundRect">
            <a:avLst/>
          </a:prstGeom>
          <a:solidFill>
            <a:srgbClr val="FAF7F1"/>
          </a:solidFill>
          <a:ln w="10160">
            <a:solidFill>
              <a:srgbClr val="B58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8783" y="2537196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21826"/>
                </a:solidFill>
                <a:latin typeface="Pretendard"/>
              </a:rPr>
              <a:t>정체성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5359" y="2857236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80" b="0">
                <a:solidFill>
                  <a:srgbClr val="5D697E"/>
                </a:solidFill>
                <a:latin typeface="Pretendard"/>
              </a:rPr>
              <a:t>미니홈피·지역 태그·활동 등급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9949" y="4681991"/>
            <a:ext cx="1920240" cy="822960"/>
          </a:xfrm>
          <a:prstGeom prst="roundRect">
            <a:avLst/>
          </a:prstGeom>
          <a:solidFill>
            <a:srgbClr val="FAF7F1"/>
          </a:solidFill>
          <a:ln w="10160">
            <a:solidFill>
              <a:srgbClr val="B58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1389" y="4837439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21826"/>
                </a:solidFill>
                <a:latin typeface="Pretendard"/>
              </a:rPr>
              <a:t>관계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7965" y="5157479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80" b="0">
                <a:solidFill>
                  <a:srgbClr val="5D697E"/>
                </a:solidFill>
                <a:latin typeface="Pretendard"/>
              </a:rPr>
              <a:t>방명록·일촌·1:1 대화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11330" y="4681991"/>
            <a:ext cx="1920240" cy="822960"/>
          </a:xfrm>
          <a:prstGeom prst="roundRect">
            <a:avLst/>
          </a:prstGeom>
          <a:solidFill>
            <a:srgbClr val="FAF7F1"/>
          </a:solidFill>
          <a:ln w="10160">
            <a:solidFill>
              <a:srgbClr val="B58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02770" y="4837439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21826"/>
                </a:solidFill>
                <a:latin typeface="Pretendard"/>
              </a:rPr>
              <a:t>경쟁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9346" y="5157479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80" b="0">
                <a:solidFill>
                  <a:srgbClr val="5D697E"/>
                </a:solidFill>
                <a:latin typeface="Pretendard"/>
              </a:rPr>
              <a:t>지역 랭킹·대회·전국 리그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63936" y="2381748"/>
            <a:ext cx="1920240" cy="822960"/>
          </a:xfrm>
          <a:prstGeom prst="roundRect">
            <a:avLst/>
          </a:prstGeom>
          <a:solidFill>
            <a:srgbClr val="0C1220"/>
          </a:solidFill>
          <a:ln w="10160">
            <a:solidFill>
              <a:srgbClr val="0C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55376" y="2537196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Pretendard"/>
              </a:rPr>
              <a:t>수익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952" y="2857236"/>
            <a:ext cx="166420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80" b="0">
                <a:solidFill>
                  <a:srgbClr val="D2D8E2"/>
                </a:solidFill>
                <a:latin typeface="Pretendard"/>
              </a:rPr>
              <a:t>광고·ON 재화·입점·스폰서십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2898648"/>
            <a:ext cx="21945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58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309067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21826"/>
                </a:solidFill>
                <a:latin typeface="Pretendard"/>
              </a:rPr>
              <a:t>ONtown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493008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D697E"/>
                </a:solidFill>
                <a:latin typeface="Pretendard"/>
              </a:rPr>
              <a:t>지역 세계관 플랫폼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9BA3AF"/>
                </a:solidFill>
                <a:latin typeface="Pretendard"/>
              </a:rPr>
              <a:t>ONtown Investor 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BA3AF"/>
                </a:solidFill>
                <a:latin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8418"/>
                </a:solidFill>
                <a:latin typeface="Pretendard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223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1826"/>
                </a:solidFill>
                <a:latin typeface="Pretendard"/>
              </a:rPr>
              <a:t>수익 모델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1024128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929384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B58418"/>
                </a:solidFill>
                <a:latin typeface="Pretendard"/>
              </a:rPr>
              <a:t>지역 광고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929384"/>
            <a:ext cx="7589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0">
                <a:solidFill>
                  <a:srgbClr val="121826"/>
                </a:solidFill>
                <a:latin typeface="Pretendard"/>
              </a:rPr>
              <a:t>맛집, 카페, 병원, 학원, 숙소, 관광 상품 타겟 광고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532888"/>
            <a:ext cx="1024128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679192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B58418"/>
                </a:solidFill>
                <a:latin typeface="Pretendard"/>
              </a:rPr>
              <a:t>ON 재화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679192"/>
            <a:ext cx="7589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0">
                <a:solidFill>
                  <a:srgbClr val="121826"/>
                </a:solidFill>
                <a:latin typeface="Pretendard"/>
              </a:rPr>
              <a:t>미니홈피 꾸미기, BGM 슬롯, 프로필 프레임, 대회 참가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82696"/>
            <a:ext cx="1024128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429000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B58418"/>
                </a:solidFill>
                <a:latin typeface="Pretendard"/>
              </a:rPr>
              <a:t>상점 입점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429000"/>
            <a:ext cx="7589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0">
                <a:solidFill>
                  <a:srgbClr val="121826"/>
                </a:solidFill>
                <a:latin typeface="Pretendard"/>
              </a:rPr>
              <a:t>매장 페이지, 쿠폰, 이벤트, 모임 장소 노출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032504"/>
            <a:ext cx="1024128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17880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B58418"/>
                </a:solidFill>
                <a:latin typeface="Pretendard"/>
              </a:rPr>
              <a:t>스폰서십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178808"/>
            <a:ext cx="7589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0">
                <a:solidFill>
                  <a:srgbClr val="121826"/>
                </a:solidFill>
                <a:latin typeface="Pretendard"/>
              </a:rPr>
              <a:t>지역 대회, 전국 챔피언십, 얼짱 콘테스트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782312"/>
            <a:ext cx="1024128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928616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B58418"/>
                </a:solidFill>
                <a:latin typeface="Pretendard"/>
              </a:rPr>
              <a:t>데이터/파트너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928616"/>
            <a:ext cx="7589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0">
                <a:solidFill>
                  <a:srgbClr val="121826"/>
                </a:solidFill>
                <a:latin typeface="Pretendard"/>
              </a:rPr>
              <a:t>지역별 외지인 반응, 상권·관광 마케팅 리포트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9BA3AF"/>
                </a:solidFill>
                <a:latin typeface="Pretendard"/>
              </a:rPr>
              <a:t>ONtown Investor Deck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BA3AF"/>
                </a:solidFill>
                <a:latin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8418"/>
                </a:solidFill>
                <a:latin typeface="Pretendard"/>
              </a:rPr>
              <a:t>MARKET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223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1826"/>
                </a:solidFill>
                <a:latin typeface="Pretendard"/>
              </a:rPr>
              <a:t>확장 전략: 강남ON에서 전국 ONtown으로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33172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359152"/>
            <a:ext cx="1143000" cy="329184"/>
          </a:xfrm>
          <a:prstGeom prst="roundRect">
            <a:avLst/>
          </a:prstGeom>
          <a:solidFill>
            <a:srgbClr val="FAF7F1"/>
          </a:solidFill>
          <a:ln>
            <a:solidFill>
              <a:srgbClr val="ECD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B58418"/>
                </a:solidFill>
                <a:latin typeface="Pretendard"/>
              </a:rPr>
              <a:t>0~3개월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7121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강남ON 고도화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337560"/>
            <a:ext cx="187451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9" b="0">
                <a:solidFill>
                  <a:srgbClr val="5D697E"/>
                </a:solidFill>
                <a:latin typeface="Pretendard"/>
              </a:rPr>
              <a:t>미니홈피, 지역 태그, 강남픽, 모임/거래 안정화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2103120"/>
            <a:ext cx="233172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1607" y="2359152"/>
            <a:ext cx="1143000" cy="329184"/>
          </a:xfrm>
          <a:prstGeom prst="roundRect">
            <a:avLst/>
          </a:prstGeom>
          <a:solidFill>
            <a:srgbClr val="FAF7F1"/>
          </a:solidFill>
          <a:ln>
            <a:solidFill>
              <a:srgbClr val="ECD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B58418"/>
                </a:solidFill>
                <a:latin typeface="Pretendard"/>
              </a:rPr>
              <a:t>4~6개월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87121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서울권 확장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7" y="3337560"/>
            <a:ext cx="187451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9" b="0">
                <a:solidFill>
                  <a:srgbClr val="5D697E"/>
                </a:solidFill>
                <a:latin typeface="Pretendard"/>
              </a:rPr>
              <a:t>송파ON, 잠실ON, 성수ON 등 생활권 복제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103120"/>
            <a:ext cx="233172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10527" y="2359152"/>
            <a:ext cx="1143000" cy="329184"/>
          </a:xfrm>
          <a:prstGeom prst="roundRect">
            <a:avLst/>
          </a:prstGeom>
          <a:solidFill>
            <a:srgbClr val="FAF7F1"/>
          </a:solidFill>
          <a:ln>
            <a:solidFill>
              <a:srgbClr val="ECD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B58418"/>
                </a:solidFill>
                <a:latin typeface="Pretendard"/>
              </a:rPr>
              <a:t>7~9개월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7" y="287121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관광 도시 확장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7" y="3337560"/>
            <a:ext cx="187451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9" b="0">
                <a:solidFill>
                  <a:srgbClr val="5D697E"/>
                </a:solidFill>
                <a:latin typeface="Pretendard"/>
              </a:rPr>
              <a:t>여수ON, 강릉ON, 부산ON: 출장/여행 시나리오 강화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103120"/>
            <a:ext cx="233172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99448" y="2359152"/>
            <a:ext cx="1143000" cy="329184"/>
          </a:xfrm>
          <a:prstGeom prst="roundRect">
            <a:avLst/>
          </a:prstGeom>
          <a:solidFill>
            <a:srgbClr val="FAF7F1"/>
          </a:solidFill>
          <a:ln>
            <a:solidFill>
              <a:srgbClr val="ECD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B58418"/>
                </a:solidFill>
                <a:latin typeface="Pretendard"/>
              </a:rPr>
              <a:t>10~12개월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287121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리그화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3337560"/>
            <a:ext cx="187451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9" b="0">
                <a:solidFill>
                  <a:srgbClr val="5D697E"/>
                </a:solidFill>
                <a:latin typeface="Pretendard"/>
              </a:rPr>
              <a:t>지역 게임대회, 얼짱 대회, 스폰서 패키지 출시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40680"/>
            <a:ext cx="9875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21826"/>
                </a:solidFill>
                <a:latin typeface="Pretendard"/>
              </a:rPr>
              <a:t>확장 원칙: 기능은 공통화하고, 콘텐츠·랭킹·상점·이벤트는 지역화합니다.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9BA3AF"/>
                </a:solidFill>
                <a:latin typeface="Pretendard"/>
              </a:rPr>
              <a:t>ONtown Investor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BA3AF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8418"/>
                </a:solidFill>
                <a:latin typeface="Pretendard"/>
              </a:rPr>
              <a:t>FUNDING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223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1826"/>
                </a:solidFill>
                <a:latin typeface="Pretendard"/>
              </a:rPr>
              <a:t>필요 자금: 12개월 런웨이 기준 12억 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8778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5D697E"/>
                </a:solidFill>
                <a:latin typeface="Pretendard"/>
              </a:rPr>
              <a:t>강남 사무실, 핵심 인력, 서비스 운영, 지역 확장 마케팅, 대회/이벤트 비용을 포함했습니다.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662940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5D697E"/>
                </a:solidFill>
                <a:latin typeface="Pretendard"/>
              </a:rPr>
              <a:t>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084831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5D697E"/>
                </a:solidFill>
                <a:latin typeface="Pretendard"/>
              </a:rPr>
              <a:t>금액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2084831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5D697E"/>
                </a:solidFill>
                <a:latin typeface="Pretendard"/>
              </a:rPr>
              <a:t>가정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0" b="1">
                <a:solidFill>
                  <a:srgbClr val="121826"/>
                </a:solidFill>
                <a:latin typeface="Pretendard"/>
              </a:rPr>
              <a:t>인건비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42316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80" b="1">
                <a:solidFill>
                  <a:srgbClr val="B58418"/>
                </a:solidFill>
                <a:latin typeface="Pretendard"/>
              </a:rPr>
              <a:t>581백만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423160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5D697E"/>
                </a:solidFill>
                <a:latin typeface="Pretendard"/>
              </a:rPr>
              <a:t>8인 핵심팀 + 4대보험/복리후생 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62072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0" b="1">
                <a:solidFill>
                  <a:srgbClr val="121826"/>
                </a:solidFill>
                <a:latin typeface="Pretendard"/>
              </a:rPr>
              <a:t>강남 사무실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862072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80" b="1">
                <a:solidFill>
                  <a:srgbClr val="B58418"/>
                </a:solidFill>
                <a:latin typeface="Pretendard"/>
              </a:rPr>
              <a:t>74백만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862072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5D697E"/>
                </a:solidFill>
                <a:latin typeface="Pretendard"/>
              </a:rPr>
              <a:t>6~8인 공유오피스/소형 사무실 + 보증금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00984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0" b="1">
                <a:solidFill>
                  <a:srgbClr val="121826"/>
                </a:solidFill>
                <a:latin typeface="Pretendard"/>
              </a:rPr>
              <a:t>인프라/API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30098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80" b="1">
                <a:solidFill>
                  <a:srgbClr val="B58418"/>
                </a:solidFill>
                <a:latin typeface="Pretendard"/>
              </a:rPr>
              <a:t>84백만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300984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5D697E"/>
                </a:solidFill>
                <a:latin typeface="Pretendard"/>
              </a:rPr>
              <a:t>서버, DB, 지도, AI, 메시징, 이미지 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989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0" b="1">
                <a:solidFill>
                  <a:srgbClr val="121826"/>
                </a:solidFill>
                <a:latin typeface="Pretendard"/>
              </a:rPr>
              <a:t>마케팅/콘텐츠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739896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80" b="1">
                <a:solidFill>
                  <a:srgbClr val="B58418"/>
                </a:solidFill>
                <a:latin typeface="Pretendard"/>
              </a:rPr>
              <a:t>180백만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3739896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5D697E"/>
                </a:solidFill>
                <a:latin typeface="Pretendard"/>
              </a:rPr>
              <a:t>강남ON 런칭, 지역 확장, 블로그/숏폼 콘텐츠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7880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0" b="1">
                <a:solidFill>
                  <a:srgbClr val="121826"/>
                </a:solidFill>
                <a:latin typeface="Pretendard"/>
              </a:rPr>
              <a:t>대회/이벤트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4178808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80" b="1">
                <a:solidFill>
                  <a:srgbClr val="B58418"/>
                </a:solidFill>
                <a:latin typeface="Pretendard"/>
              </a:rPr>
              <a:t>120백만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178808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5D697E"/>
                </a:solidFill>
                <a:latin typeface="Pretendard"/>
              </a:rPr>
              <a:t>테트리스·얼짱 대회, 리워드, 운영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17720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0" b="1">
                <a:solidFill>
                  <a:srgbClr val="121826"/>
                </a:solidFill>
                <a:latin typeface="Pretendard"/>
              </a:rPr>
              <a:t>법무/회계/관리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461772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80" b="1">
                <a:solidFill>
                  <a:srgbClr val="B58418"/>
                </a:solidFill>
                <a:latin typeface="Pretendard"/>
              </a:rPr>
              <a:t>36백만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617720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5D697E"/>
                </a:solidFill>
                <a:latin typeface="Pretendard"/>
              </a:rPr>
              <a:t>법인 운영, 계약, 개인정보/약관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56631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80" b="1">
                <a:solidFill>
                  <a:srgbClr val="121826"/>
                </a:solidFill>
                <a:latin typeface="Pretendard"/>
              </a:rPr>
              <a:t>예비비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5056631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80" b="1">
                <a:solidFill>
                  <a:srgbClr val="B58418"/>
                </a:solidFill>
                <a:latin typeface="Pretendard"/>
              </a:rPr>
              <a:t>125백만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5056631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5D697E"/>
                </a:solidFill>
                <a:latin typeface="Pretendard"/>
              </a:rPr>
              <a:t>약 12% 버퍼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5099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826"/>
                </a:solidFill>
                <a:latin typeface="Pretendard"/>
              </a:rPr>
              <a:t>총 필요 자금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6235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600" b="1">
                <a:solidFill>
                  <a:srgbClr val="E14250"/>
                </a:solidFill>
                <a:latin typeface="Pretendard"/>
              </a:rPr>
              <a:t>1,200백만 원 ≈ 12억 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26679" y="1828800"/>
            <a:ext cx="3611880" cy="4251960"/>
          </a:xfrm>
          <a:prstGeom prst="roundRect">
            <a:avLst/>
          </a:prstGeom>
          <a:solidFill>
            <a:srgbClr val="0C1220"/>
          </a:solidFill>
          <a:ln w="10160">
            <a:solidFill>
              <a:srgbClr val="0C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214884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자금 사용 비중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2743200"/>
            <a:ext cx="2331720" cy="118872"/>
          </a:xfrm>
          <a:prstGeom prst="rect">
            <a:avLst/>
          </a:prstGeom>
          <a:solidFill>
            <a:srgbClr val="B58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2907792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DCE1EB"/>
                </a:solidFill>
                <a:latin typeface="Pretendard"/>
              </a:rPr>
              <a:t>인건비 48%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182112"/>
            <a:ext cx="296983" cy="1188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334670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DCE1EB"/>
                </a:solidFill>
                <a:latin typeface="Pretendard"/>
              </a:rPr>
              <a:t>강남 사무실 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3621024"/>
            <a:ext cx="337116" cy="11887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3785615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DCE1EB"/>
                </a:solidFill>
                <a:latin typeface="Pretendard"/>
              </a:rPr>
              <a:t>인프라/API 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059935"/>
            <a:ext cx="722391" cy="1188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4224527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DCE1EB"/>
                </a:solidFill>
                <a:latin typeface="Pretendard"/>
              </a:rPr>
              <a:t>마케팅/콘텐츠 15%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4498848"/>
            <a:ext cx="481594" cy="1188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4663440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DCE1EB"/>
                </a:solidFill>
                <a:latin typeface="Pretendard"/>
              </a:rPr>
              <a:t>대회/이벤트 10%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4937760"/>
            <a:ext cx="144478" cy="1188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5102352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DCE1EB"/>
                </a:solidFill>
                <a:latin typeface="Pretendard"/>
              </a:rPr>
              <a:t>법무/회계/관리 3%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5376672"/>
            <a:ext cx="501660" cy="118872"/>
          </a:xfrm>
          <a:prstGeom prst="rect">
            <a:avLst/>
          </a:prstGeom>
          <a:solidFill>
            <a:srgbClr val="E14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0" y="554126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DCE1EB"/>
                </a:solidFill>
                <a:latin typeface="Pretendard"/>
              </a:rPr>
              <a:t>예비비 10%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465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9BA3AF"/>
                </a:solidFill>
                <a:latin typeface="Pretendard"/>
              </a:rPr>
              <a:t>ONtown Investor Deck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BA3AF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8418"/>
                </a:solidFill>
                <a:latin typeface="Pretendard"/>
              </a:rPr>
              <a:t>TEAM &amp;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223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1826"/>
                </a:solidFill>
                <a:latin typeface="Pretendard"/>
              </a:rPr>
              <a:t>초기 8인 팀과 강남 거점 운영 계획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760720" cy="425196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2140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인력 구성 및 연봉 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40" b="1">
                <a:solidFill>
                  <a:srgbClr val="121826"/>
                </a:solidFill>
                <a:latin typeface="Pretendard"/>
              </a:rPr>
              <a:t>CEO/PM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60604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D697E"/>
                </a:solidFill>
                <a:latin typeface="Pretendard"/>
              </a:rPr>
              <a:t>전략·투자·제품 의사결정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606040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19" b="1">
                <a:solidFill>
                  <a:srgbClr val="B58418"/>
                </a:solidFill>
                <a:latin typeface="Pretendard"/>
              </a:rPr>
              <a:t>48M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3580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40" b="1">
                <a:solidFill>
                  <a:srgbClr val="121826"/>
                </a:solidFill>
                <a:latin typeface="Pretendard"/>
              </a:rPr>
              <a:t>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03580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D697E"/>
                </a:solidFill>
                <a:latin typeface="Pretendard"/>
              </a:rPr>
              <a:t>아키텍처·보안·데이터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03580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19" b="1">
                <a:solidFill>
                  <a:srgbClr val="B58418"/>
                </a:solidFill>
                <a:latin typeface="Pretendard"/>
              </a:rPr>
              <a:t>90M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65576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40" b="1">
                <a:solidFill>
                  <a:srgbClr val="121826"/>
                </a:solidFill>
                <a:latin typeface="Pretendard"/>
              </a:rPr>
              <a:t>Full-stack 2명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465576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D697E"/>
                </a:solidFill>
                <a:latin typeface="Pretendard"/>
              </a:rPr>
              <a:t>웹/앱/관리자 개발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465576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19" b="1">
                <a:solidFill>
                  <a:srgbClr val="B58418"/>
                </a:solidFill>
                <a:latin typeface="Pretendard"/>
              </a:rPr>
              <a:t>140M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95344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40" b="1">
                <a:solidFill>
                  <a:srgbClr val="121826"/>
                </a:solidFill>
                <a:latin typeface="Pretendard"/>
              </a:rPr>
              <a:t>Backend/Data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895344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D697E"/>
                </a:solidFill>
                <a:latin typeface="Pretendard"/>
              </a:rPr>
              <a:t>지역 태그·랭킹·수집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89534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19" b="1">
                <a:solidFill>
                  <a:srgbClr val="B58418"/>
                </a:solidFill>
                <a:latin typeface="Pretendard"/>
              </a:rPr>
              <a:t>75M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25112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40" b="1">
                <a:solidFill>
                  <a:srgbClr val="121826"/>
                </a:solidFill>
                <a:latin typeface="Pretendard"/>
              </a:rPr>
              <a:t>Product Designer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32511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D697E"/>
                </a:solidFill>
                <a:latin typeface="Pretendard"/>
              </a:rPr>
              <a:t>브랜드·UX·미니홈피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32511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19" b="1">
                <a:solidFill>
                  <a:srgbClr val="B58418"/>
                </a:solidFill>
                <a:latin typeface="Pretendard"/>
              </a:rPr>
              <a:t>55M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79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40" b="1">
                <a:solidFill>
                  <a:srgbClr val="121826"/>
                </a:solidFill>
                <a:latin typeface="Pretendard"/>
              </a:rPr>
              <a:t>Growth Marketer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754879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D697E"/>
                </a:solidFill>
                <a:latin typeface="Pretendard"/>
              </a:rPr>
              <a:t>런칭·콘텐츠·광고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754879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19" b="1">
                <a:solidFill>
                  <a:srgbClr val="B58418"/>
                </a:solidFill>
                <a:latin typeface="Pretendard"/>
              </a:rPr>
              <a:t>55M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18464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40" b="1">
                <a:solidFill>
                  <a:srgbClr val="121826"/>
                </a:solidFill>
                <a:latin typeface="Pretendard"/>
              </a:rPr>
              <a:t>Community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18464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D697E"/>
                </a:solidFill>
                <a:latin typeface="Pretendard"/>
              </a:rPr>
              <a:t>지역 운영·이벤트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18464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19" b="1">
                <a:solidFill>
                  <a:srgbClr val="B58418"/>
                </a:solidFill>
                <a:latin typeface="Pretendard"/>
              </a:rPr>
              <a:t>42M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1828800"/>
            <a:ext cx="420624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212140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강남 사무실 운영 가정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697480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180" b="0">
                <a:solidFill>
                  <a:srgbClr val="5D697E"/>
                </a:solidFill>
                <a:latin typeface="Pretendard"/>
              </a:rPr>
              <a:t>• 강남 6~8인 업무공간 기준</a:t>
            </a:r>
          </a:p>
          <a:p>
            <a:pPr>
              <a:spcAft>
                <a:spcPts val="700"/>
              </a:spcAft>
            </a:pPr>
            <a:r>
              <a:rPr sz="1180" b="0">
                <a:solidFill>
                  <a:srgbClr val="5D697E"/>
                </a:solidFill>
                <a:latin typeface="Pretendard"/>
              </a:rPr>
              <a:t>• 월 임대/공유오피스 비용 450만 원 가정</a:t>
            </a:r>
          </a:p>
          <a:p>
            <a:pPr>
              <a:spcAft>
                <a:spcPts val="700"/>
              </a:spcAft>
            </a:pPr>
            <a:r>
              <a:rPr sz="1180" b="0">
                <a:solidFill>
                  <a:srgbClr val="5D697E"/>
                </a:solidFill>
                <a:latin typeface="Pretendard"/>
              </a:rPr>
              <a:t>• 보증금/초기 세팅 2,000만 원 반영</a:t>
            </a:r>
          </a:p>
          <a:p>
            <a:pPr>
              <a:spcAft>
                <a:spcPts val="700"/>
              </a:spcAft>
            </a:pPr>
            <a:r>
              <a:rPr sz="1180" b="0">
                <a:solidFill>
                  <a:srgbClr val="5D697E"/>
                </a:solidFill>
                <a:latin typeface="Pretendard"/>
              </a:rPr>
              <a:t>• 투자자·파트너 미팅 접근성을 고려해 강남 거점 유지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800600"/>
            <a:ext cx="3291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19" b="0">
                <a:solidFill>
                  <a:srgbClr val="788296"/>
                </a:solidFill>
                <a:latin typeface="Pretendard"/>
              </a:rPr>
              <a:t>참고: 공개 매물 기준 강남 공유오피스 6인실 월 374만 원 사례가 확인되며, 본 계획은 여유 좌석과 회의/운영 비용을 포함해 월 450만 원으로 산정했습니다.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9BA3AF"/>
                </a:solidFill>
                <a:latin typeface="Pretendard"/>
              </a:rPr>
              <a:t>ONtown Investor Deck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BA3AF"/>
                </a:solidFill>
                <a:latin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8418"/>
                </a:solidFill>
                <a:latin typeface="Pretendard"/>
              </a:rPr>
              <a:t>12-MONTH REVENUE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223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1826"/>
                </a:solidFill>
                <a:latin typeface="Pretendard"/>
              </a:rPr>
              <a:t>수익 시점: 12개월 차 월 손익분기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8778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5D697E"/>
                </a:solidFill>
                <a:latin typeface="Pretendard"/>
              </a:rPr>
              <a:t>초기 3개월은 제품 완성, 4개월부터 지역 광고/입점/ON 재화 매출을 시작합니다.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828800"/>
          <a:ext cx="65836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18120" y="1828800"/>
            <a:ext cx="3474720" cy="3840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13969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21826"/>
                </a:solidFill>
                <a:latin typeface="Pretendard"/>
              </a:rPr>
              <a:t>12개월 차 월매출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70048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21826"/>
                </a:solidFill>
                <a:latin typeface="Pretendard"/>
              </a:rPr>
              <a:t>지역 광고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04120" y="2670048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B58418"/>
                </a:solidFill>
                <a:latin typeface="Pretendard"/>
              </a:rPr>
              <a:t>45백만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099815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21826"/>
                </a:solidFill>
                <a:latin typeface="Pretendard"/>
              </a:rPr>
              <a:t>상점 입점/쿠폰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20" y="3099815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B58418"/>
                </a:solidFill>
                <a:latin typeface="Pretendard"/>
              </a:rPr>
              <a:t>28백만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52958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21826"/>
                </a:solidFill>
                <a:latin typeface="Pretendard"/>
              </a:rPr>
              <a:t>ON 재화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3529584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B58418"/>
                </a:solidFill>
                <a:latin typeface="Pretendard"/>
              </a:rPr>
              <a:t>24백만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959352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21826"/>
                </a:solidFill>
                <a:latin typeface="Pretendard"/>
              </a:rPr>
              <a:t>이벤트 스폰서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4120" y="395935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B58418"/>
                </a:solidFill>
                <a:latin typeface="Pretendard"/>
              </a:rPr>
              <a:t>18백만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38912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21826"/>
                </a:solidFill>
                <a:latin typeface="Pretendard"/>
              </a:rPr>
              <a:t>데이터/파트너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438912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B58418"/>
                </a:solidFill>
                <a:latin typeface="Pretendard"/>
              </a:rPr>
              <a:t>10백만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892040"/>
            <a:ext cx="26517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D697E"/>
                </a:solidFill>
                <a:latin typeface="Pretendard"/>
              </a:rPr>
              <a:t>M12 매출 1.25억 원 / 월비용 1.16억 원 가정으로 12개월 차 손익분기 진입을 목표로 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9BA3AF"/>
                </a:solidFill>
                <a:latin typeface="Pretendard"/>
              </a:rPr>
              <a:t>ONtown Investor Deck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BA3AF"/>
                </a:solidFill>
                <a:latin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8418"/>
                </a:solidFill>
                <a:latin typeface="Pretendard"/>
              </a:rPr>
              <a:t>KPI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223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1826"/>
                </a:solidFill>
                <a:latin typeface="Pretendard"/>
              </a:rPr>
              <a:t>12개월 핵심 목표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246120" cy="105156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B58418"/>
                </a:solidFill>
                <a:latin typeface="Pretendard"/>
              </a:rPr>
              <a:t>가입자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4832" y="2112263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826"/>
                </a:solidFill>
                <a:latin typeface="Pretendard"/>
              </a:rPr>
              <a:t>150K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D697E"/>
                </a:solidFill>
                <a:latin typeface="Pretendard"/>
              </a:rPr>
              <a:t>강남·서울권·관광도시 합산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74519"/>
            <a:ext cx="3246120" cy="105156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0574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B58418"/>
                </a:solidFill>
                <a:latin typeface="Pretendard"/>
              </a:rPr>
              <a:t>MAU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2112263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826"/>
                </a:solidFill>
                <a:latin typeface="Pretendard"/>
              </a:rPr>
              <a:t>60K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51460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D697E"/>
                </a:solidFill>
                <a:latin typeface="Pretendard"/>
              </a:rPr>
              <a:t>지역 콘텐츠/미니홈피 재방문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74519"/>
            <a:ext cx="3246120" cy="105156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05740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B58418"/>
                </a:solidFill>
                <a:latin typeface="Pretendard"/>
              </a:rPr>
              <a:t>지역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74352" y="2112263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826"/>
                </a:solidFill>
                <a:latin typeface="Pretendard"/>
              </a:rPr>
              <a:t>8개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51460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D697E"/>
                </a:solidFill>
                <a:latin typeface="Pretendard"/>
              </a:rPr>
              <a:t>강남, 송파, 여수, 강릉, 부산 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83279"/>
            <a:ext cx="3246120" cy="105156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6616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B58418"/>
                </a:solidFill>
                <a:latin typeface="Pretendard"/>
              </a:rPr>
              <a:t>상점 입점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4832" y="362102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826"/>
                </a:solidFill>
                <a:latin typeface="Pretendard"/>
              </a:rPr>
              <a:t>300곳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59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D697E"/>
                </a:solidFill>
                <a:latin typeface="Pretendard"/>
              </a:rPr>
              <a:t>광고/쿠폰/입점 상품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383279"/>
            <a:ext cx="3246120" cy="105156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356616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B58418"/>
                </a:solidFill>
                <a:latin typeface="Pretendard"/>
              </a:rPr>
              <a:t>월 매출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9592" y="362102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826"/>
                </a:solidFill>
                <a:latin typeface="Pretendard"/>
              </a:rPr>
              <a:t>1.25억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23359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D697E"/>
                </a:solidFill>
                <a:latin typeface="Pretendard"/>
              </a:rPr>
              <a:t>12개월 차 BEP 진입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383279"/>
            <a:ext cx="3246120" cy="105156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56616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B58418"/>
                </a:solidFill>
                <a:latin typeface="Pretendard"/>
              </a:rPr>
              <a:t>대회 개최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362102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826"/>
                </a:solidFill>
                <a:latin typeface="Pretendard"/>
              </a:rPr>
              <a:t>12회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023359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D697E"/>
                </a:solidFill>
                <a:latin typeface="Pretendard"/>
              </a:rPr>
              <a:t>지역 예선 + 온라인 이벤트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9BA3AF"/>
                </a:solidFill>
                <a:latin typeface="Pretendard"/>
              </a:rPr>
              <a:t>ONtown Investor Deck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BA3AF"/>
                </a:solidFill>
                <a:latin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40080"/>
            <a:ext cx="1920240" cy="329184"/>
          </a:xfrm>
          <a:prstGeom prst="roundRect">
            <a:avLst/>
          </a:prstGeom>
          <a:solidFill>
            <a:srgbClr val="222A3A"/>
          </a:solidFill>
          <a:ln>
            <a:solidFill>
              <a:srgbClr val="ECD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E1AA2E"/>
                </a:solidFill>
                <a:latin typeface="Pretendard"/>
              </a:rPr>
              <a:t>INVESTMENT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7955279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12억 원으로 강남ON을 검증하고</a:t>
            </a:r>
            <a:br/>
            <a:r>
              <a:rPr sz="3200" b="1">
                <a:solidFill>
                  <a:srgbClr val="FFFFFF"/>
                </a:solidFill>
                <a:latin typeface="Pretendard"/>
              </a:rPr>
              <a:t>ONtown 전국 확장의 첫 해를 만듭니다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1AA2E"/>
                </a:solidFill>
                <a:latin typeface="Pretendard"/>
              </a:rPr>
              <a:t>투자금 사용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557784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DCE1EB"/>
                </a:solidFill>
                <a:latin typeface="Pretendard"/>
              </a:rPr>
              <a:t>• 핵심 8인 팀 확보 및 12개월 제품 개발/운영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DCE1EB"/>
                </a:solidFill>
                <a:latin typeface="Pretendard"/>
              </a:rPr>
              <a:t>• 강남 거점 사무실 운영과 투자자/파트너 미팅 기반 구축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DCE1EB"/>
                </a:solidFill>
                <a:latin typeface="Pretendard"/>
              </a:rPr>
              <a:t>• 강남ON 활성화 후 서울권·관광도시 ON 확장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DCE1EB"/>
                </a:solidFill>
                <a:latin typeface="Pretendard"/>
              </a:rPr>
              <a:t>• 지역 태그 데이터, 미니홈피, ON 재화, 지역 대회 수익화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788920"/>
            <a:ext cx="3337560" cy="1508760"/>
          </a:xfrm>
          <a:prstGeom prst="roundRect">
            <a:avLst/>
          </a:prstGeom>
          <a:solidFill>
            <a:srgbClr val="1B2434"/>
          </a:solidFill>
          <a:ln w="1016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30632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1AA2E"/>
                </a:solidFill>
                <a:latin typeface="Pretendard"/>
              </a:rPr>
              <a:t>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40156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retendard"/>
              </a:rPr>
              <a:t>12개월 차 월 손익분기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822191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BEC6D4"/>
                </a:solidFill>
                <a:latin typeface="Pretendard"/>
              </a:rPr>
              <a:t>M12 월매출 1.25억 원 / 월비용 1.16억 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4572000"/>
            <a:ext cx="3337560" cy="960120"/>
          </a:xfrm>
          <a:prstGeom prst="roundRect">
            <a:avLst/>
          </a:prstGeom>
          <a:solidFill>
            <a:srgbClr val="1B2434"/>
          </a:solidFill>
          <a:ln w="1016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482803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E1AA2E"/>
                </a:solidFill>
                <a:latin typeface="Pretendard"/>
              </a:rPr>
              <a:t>ONtown은 지역 정보 서비스가 아니라</a:t>
            </a:r>
            <a:br/>
            <a:r>
              <a:rPr sz="1250" b="1">
                <a:solidFill>
                  <a:srgbClr val="E1AA2E"/>
                </a:solidFill>
                <a:latin typeface="Pretendard"/>
              </a:rPr>
              <a:t>지역 정체성과 이동 데이터를 가진 플랫폼입니다.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9BA3AF"/>
                </a:solidFill>
                <a:latin typeface="Pretendard"/>
              </a:rPr>
              <a:t>ONtown Investor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BA3AF"/>
                </a:solidFill>
                <a:latin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58418"/>
                </a:solidFill>
                <a:latin typeface="Pretendard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2237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21826"/>
                </a:solidFill>
                <a:latin typeface="Pretendard"/>
              </a:rPr>
              <a:t>예산 산정 참고 및 주요 가정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D697E"/>
                </a:solidFill>
                <a:latin typeface="Pretendard"/>
              </a:rPr>
              <a:t>예산은 실제 계약 전 단계의 사업계획용 가정입니다. 강남 사무실과 인건비는 공개 자료와 스타트업 채용 시장 수준을 참고해 보수적으로 산정했습니다.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10424160" cy="47548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59736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21826"/>
                </a:solidFill>
                <a:latin typeface="Pretendard"/>
              </a:rPr>
              <a:t>강남 공유오피스 6인실 공개 매물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459736"/>
            <a:ext cx="7040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9" b="0">
                <a:solidFill>
                  <a:srgbClr val="5D697E"/>
                </a:solidFill>
                <a:latin typeface="Pretendard"/>
              </a:rPr>
              <a:t>스페이스클라우드 유니언워크 6인실 월 374만 원 사례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90087"/>
            <a:ext cx="10424160" cy="47548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18103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21826"/>
                </a:solidFill>
                <a:latin typeface="Pretendard"/>
              </a:rPr>
              <a:t>스타트업 직군별 연봉 가이드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118103"/>
            <a:ext cx="7040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9" b="0">
                <a:solidFill>
                  <a:srgbClr val="5D697E"/>
                </a:solidFill>
                <a:latin typeface="Pretendard"/>
              </a:rPr>
              <a:t>개발/디자인/마케팅/기획 직군별 연차별 연봉 범위 참고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48456"/>
            <a:ext cx="10424160" cy="47548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776472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21826"/>
                </a:solidFill>
                <a:latin typeface="Pretendard"/>
              </a:rPr>
              <a:t>스타트업 희망연봉 통계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776472"/>
            <a:ext cx="7040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9" b="0">
                <a:solidFill>
                  <a:srgbClr val="5D697E"/>
                </a:solidFill>
                <a:latin typeface="Pretendard"/>
              </a:rPr>
              <a:t>개발자 5,540만 원, PM/PO 5,081만 원, 마케터 4,772만 원, 디자이너 4,501만 원 수준 참고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06824"/>
            <a:ext cx="10424160" cy="47548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34840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21826"/>
                </a:solidFill>
                <a:latin typeface="Pretendard"/>
              </a:rPr>
              <a:t>강남 사무실 임대 동향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434840"/>
            <a:ext cx="7040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19" b="0">
                <a:solidFill>
                  <a:srgbClr val="5D697E"/>
                </a:solidFill>
                <a:latin typeface="Pretendard"/>
              </a:rPr>
              <a:t>강남권 오피스 임대료 상승 및 소형 오피스 월세 수준 참고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21826"/>
                </a:solidFill>
                <a:latin typeface="Pretendard"/>
              </a:rPr>
              <a:t>재무 모델 핵심 가정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96128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30" b="0">
                <a:solidFill>
                  <a:srgbClr val="5D697E"/>
                </a:solidFill>
                <a:latin typeface="Pretendard"/>
              </a:rPr>
              <a:t>• 초기 3개월 제품 완성, 4개월 차부터 매출 발생</a:t>
            </a:r>
          </a:p>
          <a:p>
            <a:pPr>
              <a:spcAft>
                <a:spcPts val="100"/>
              </a:spcAft>
            </a:pPr>
            <a:r>
              <a:rPr sz="1030" b="0">
                <a:solidFill>
                  <a:srgbClr val="5D697E"/>
                </a:solidFill>
                <a:latin typeface="Pretendard"/>
              </a:rPr>
              <a:t>• 12개월 차 월 매출 1.25억 원, 월비용 1.16억 원 목표</a:t>
            </a:r>
          </a:p>
          <a:p>
            <a:pPr>
              <a:spcAft>
                <a:spcPts val="100"/>
              </a:spcAft>
            </a:pPr>
            <a:r>
              <a:rPr sz="1030" b="0">
                <a:solidFill>
                  <a:srgbClr val="5D697E"/>
                </a:solidFill>
                <a:latin typeface="Pretendard"/>
              </a:rPr>
              <a:t>• ON 재화와 지역 광고는 강남ON 트래픽 확보 이후 본격화</a:t>
            </a:r>
          </a:p>
          <a:p>
            <a:pPr>
              <a:spcAft>
                <a:spcPts val="100"/>
              </a:spcAft>
            </a:pPr>
            <a:r>
              <a:rPr sz="1030" b="0">
                <a:solidFill>
                  <a:srgbClr val="5D697E"/>
                </a:solidFill>
                <a:latin typeface="Pretendard"/>
              </a:rPr>
              <a:t>• 상점 입점은 지역 확장과 함께 누적형 매출로 설계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9BA3AF"/>
                </a:solidFill>
                <a:latin typeface="Pretendard"/>
              </a:rPr>
              <a:t>ONtown Investor Deck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9BA3AF"/>
                </a:solidFill>
                <a:latin typeface="Pretendard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