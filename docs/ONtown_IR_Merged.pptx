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280160"/>
            <a:ext cx="5120640" cy="5120640"/>
          </a:xfrm>
          <a:prstGeom prst="ellipse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5120640"/>
            <a:ext cx="1005840" cy="100584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LOCAL COMMUNITY NETWORK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5200" b="1">
                <a:solidFill>
                  <a:srgbClr val="232D63"/>
                </a:solidFill>
                <a:latin typeface="Malgun Gothic"/>
              </a:defRPr>
            </a:pPr>
            <a:r>
              <a:t>ONtown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2F3C7E"/>
                </a:solidFill>
                <a:latin typeface="Malgun Gothic"/>
              </a:defRPr>
            </a:pPr>
            <a:r>
              <a:t>온타운  ·  하이퍼로컬 커뮤니티 플랫폼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0">
                <a:solidFill>
                  <a:srgbClr val="64748B"/>
                </a:solidFill>
                <a:latin typeface="Malgun Gothic"/>
              </a:defRPr>
            </a:pPr>
            <a:r>
              <a:t>전국 지역 ON을 하나의 세계관으로 연결하는 로컬 커뮤니티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강남ON에서 시작해 송파ON, 부산ON, 광주ON, 여수ON, 강릉ON으로 확장합니다.</a:t>
            </a:r>
            <a:br/>
            <a:r>
              <a:t>각 지역은 하나의 클랜이 되고, 사용자는 지역 태그와 미니홈피로 정체성을 쌓습니다.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60520"/>
            <a:ext cx="1207008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2070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강남ON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160520"/>
            <a:ext cx="1207008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4160520"/>
            <a:ext cx="12070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송파ON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160520"/>
            <a:ext cx="1207008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160520"/>
            <a:ext cx="12070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부산ON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4160520"/>
            <a:ext cx="1207008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160520"/>
            <a:ext cx="12070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광주ON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60520"/>
            <a:ext cx="1207008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160520"/>
            <a:ext cx="12070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여수ON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4160520"/>
            <a:ext cx="1207008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4160520"/>
            <a:ext cx="12070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강릉ON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92040"/>
            <a:ext cx="5029200" cy="50292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5604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2F3C7E"/>
                </a:solidFill>
                <a:latin typeface="Malgun Gothic"/>
              </a:defRPr>
            </a:pPr>
            <a:r>
              <a:t>Seed Investment Proposal · 2026  |  요청 투자금 12억 원  |  목표 손익분기 12개월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투자 유치 사업 계획서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지역과 지역을 연결하는 전국 커뮤니티 네트워크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지역 커뮤니티, 여행 정보, 미니홈피, 랭킹 대회를 하나의 계정과 지역 태그로 연결합니다.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178308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457200" cy="4572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3911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지역 = 하나의 클랜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강남ON, 여수ON, 부산ON처럼 생활권별 커뮤니티를 독립 운영하되 ONtown 브랜드 아래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394960" cy="178308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011680"/>
            <a:ext cx="457200" cy="4572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3911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지역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688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강남 유저가 여수ON에 댓글을 달면 강남 태그가 표시 — 외지인 수요 데이터가 축적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394960" cy="178308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977639"/>
            <a:ext cx="457200" cy="4572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05071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미니홈피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34839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BGM, 방명록, 일상 피드, 일촌 — 사용자 정체성과 관계가 쌓이는 개인 공간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49039"/>
            <a:ext cx="5394960" cy="178308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3977639"/>
            <a:ext cx="457200" cy="4572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3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005071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클랜 경쟁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434839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테트리스·얼짱 대회로 지역 대표와 전국 리그 구성 — 참여·투표·바이럴 동시 유발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15000"/>
            <a:ext cx="10972800" cy="50292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7790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투자 포인트: 강남ON MVP 기반 지역 복제 확장  ·  지역 간 이동·관심 데이터 누적  ·  광고·ON 재화·스폰서십 수익  ·  12개월 내 월 손익분기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왜 지금 ONtown인가 — 시장의 4가지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20240"/>
            <a:ext cx="502920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고립된 지역 커뮤니티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기존 서비스는 거주자만 대상. 여행자·출장자·이주 예정자는 살아있는 정보에 접근 불가. 검색·블로그는 광고성 콘텐츠에 오염.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1920240"/>
            <a:ext cx="502920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수요가 보이지 않는 상권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여수 카페 사장님은 '서울 사람들이 무엇을 궁금해하는지' 알 방법이 없음. 외지인 수요 데이터는 있지만 상권에 전달할 채널 부재.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069079"/>
            <a:ext cx="502920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26279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정체성·소속감 부재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79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기존 로컬 서비스는 거래·게시글 중심이라 사용자가 누구인지 쌓이지 않음. 지역을 대표하고 경쟁하는 구조가 약함.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4069079"/>
            <a:ext cx="502920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526279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정보 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79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맛집은 블로그, 관광은 검색, 모임은 오픈채팅, 거래는 당근에 흩어져 있어 '지역 간 이동' 맥락이 사라짐.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97880"/>
            <a:ext cx="10972800" cy="384048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100" b="1">
                <a:solidFill>
                  <a:srgbClr val="2F3C7E"/>
                </a:solidFill>
                <a:latin typeface="Malgun Gothic"/>
              </a:defRPr>
            </a:pPr>
            <a:r>
              <a:t>ONtown은 지역 내부 커뮤니티와 지역 간 이동 데이터를 동시에 잡습니다.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SOLUTION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전국 지역 on 네트워크 — 도시에서 전국으로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시·구 단위 '지역 on' → 광역(도) 커뮤니티 → ONtown 전국 네트워크 3단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691640"/>
            <a:ext cx="3200400" cy="86868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ONtown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F9E795"/>
                </a:solidFill>
                <a:latin typeface="Malgun Gothic"/>
              </a:defRPr>
            </a:pPr>
            <a:r>
              <a:t>전국 네트워크 · 전국 대회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063240"/>
            <a:ext cx="1243584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063240"/>
            <a:ext cx="1243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서울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063240"/>
            <a:ext cx="1243584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1243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경기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3063240"/>
            <a:ext cx="1243584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063240"/>
            <a:ext cx="1243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충청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063240"/>
            <a:ext cx="1243584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063240"/>
            <a:ext cx="1243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전라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063240"/>
            <a:ext cx="1243584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063240"/>
            <a:ext cx="1243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강원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063240"/>
            <a:ext cx="1243584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063240"/>
            <a:ext cx="12435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경남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03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광역 on (도 단위)  —  도 대회 개최 · 광역 교류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434840"/>
            <a:ext cx="1444752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강남ON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0008" y="4434840"/>
            <a:ext cx="1444752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송파ON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31336" y="4434840"/>
            <a:ext cx="1444752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부산ON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12664" y="4434840"/>
            <a:ext cx="1444752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2664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광주ON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93992" y="4434840"/>
            <a:ext cx="1444752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여수ON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4434840"/>
            <a:ext cx="1444752" cy="5029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강릉ON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6648" y="4434840"/>
            <a:ext cx="1444752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6648" y="44348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2F3C7E"/>
                </a:solidFill>
                <a:latin typeface="Malgun Gothic"/>
              </a:defRPr>
            </a:pPr>
            <a:r>
              <a:t>+ 전국 확장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0749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지역 on (시·구 단위)  —  맛집 · 카페 · 관광 · 생활 정보 · 모임 · 중고거래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32120"/>
            <a:ext cx="2651760" cy="6858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577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강남ON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852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F96167"/>
                </a:solidFill>
                <a:latin typeface="Malgun Gothic"/>
              </a:defRPr>
            </a:pPr>
            <a:r>
              <a:t>소속/생활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0439" y="5532120"/>
            <a:ext cx="2651760" cy="6858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599" y="5577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여수ON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99" y="5852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F96167"/>
                </a:solidFill>
                <a:latin typeface="Malgun Gothic"/>
              </a:defRPr>
            </a:pPr>
            <a:r>
              <a:t>출장/여행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532120"/>
            <a:ext cx="2651760" cy="6858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577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부산ON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852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F96167"/>
                </a:solidFill>
                <a:latin typeface="Malgun Gothic"/>
              </a:defRPr>
            </a:pPr>
            <a:r>
              <a:t>관광/상권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59" y="5532120"/>
            <a:ext cx="2651760" cy="6858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19" y="5577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전국 ONtown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19" y="5852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F96167"/>
                </a:solidFill>
                <a:latin typeface="Malgun Gothic"/>
              </a:defRPr>
            </a:pPr>
            <a:r>
              <a:t>리그/데이터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SOLUTION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지역 태그 시스템 — ONtown만의 핵심 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44348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여수ON  ·  맛집 게시판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4846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286000"/>
            <a:ext cx="411480" cy="4114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677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1">
                <a:solidFill>
                  <a:srgbClr val="232D63"/>
                </a:solidFill>
                <a:latin typeface="Malgun Gothic"/>
              </a:defRPr>
            </a:pPr>
            <a:r>
              <a:t>김O현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240280"/>
            <a:ext cx="594360" cy="25603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240280"/>
            <a:ext cx="594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강남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내일 여수 출장 갑니다! 밤바다 근처 분위기 좋은 카페 추천 부탁드려요.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37560"/>
            <a:ext cx="4846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474720"/>
            <a:ext cx="411480" cy="4114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564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1">
                <a:solidFill>
                  <a:srgbClr val="232D63"/>
                </a:solidFill>
                <a:latin typeface="Malgun Gothic"/>
              </a:defRPr>
            </a:pPr>
            <a:r>
              <a:t>박O진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429000"/>
            <a:ext cx="594360" cy="25603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429000"/>
            <a:ext cx="594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여수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30752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현지인 픽으로 낭만포차거리 옆 OO카페 추천해요. 강남 분들이 요즘 많이 오세요!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1">
                <a:solidFill>
                  <a:srgbClr val="2F3C7E"/>
                </a:solidFill>
                <a:latin typeface="Malgun Gothic"/>
              </a:defRPr>
            </a:pPr>
            <a:r>
              <a:t>타 지역 ON에서 활동하면 홈 지역 태그가 자동 표시됩니다.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691640"/>
            <a:ext cx="5257800" cy="123444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1874520"/>
            <a:ext cx="109728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8288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외지인에게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19456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출장·여행 전 현지 추천 + 같은 외지인 후기 태그 필터링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08960"/>
            <a:ext cx="5257800" cy="12344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291840"/>
            <a:ext cx="109728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2461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현지 상권에게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61188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'지금 강남이 우리 지역을 보고 있다' — 수요 신호와 선호 데이터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526280"/>
            <a:ext cx="5257800" cy="12344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4709160"/>
            <a:ext cx="109728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6634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플랫폼에게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지역 간 이동·관심 데이터 — 어떤 경쟁사도 갖지 못한 독보적 자산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89320"/>
            <a:ext cx="10972800" cy="32004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016752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이 댓글 하나가 '외지인 관심' · '강남 유저 취향' · '여수 상권 반응' 데이터로 누적됩니다.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핵심 제품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74519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411480" cy="41148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지역 ON 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맛집·카페·관광·생활정보·모임·중고거래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520440" cy="1874519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920240"/>
            <a:ext cx="411480" cy="4114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지역 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8036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댓글/저장/조회에 소속 지역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520440" cy="1874519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920240"/>
            <a:ext cx="41148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4688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미니홈피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8036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BGM, 방명록, 일상 피드, 일촌, 파도타기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3520440" cy="1874519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069080"/>
            <a:ext cx="411480" cy="411480"/>
          </a:xfrm>
          <a:prstGeom prst="roundRect">
            <a:avLst/>
          </a:prstGeom>
          <a:solidFill>
            <a:srgbClr val="B58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ON 재화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2920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꾸미기, 슬롯, 부스팅, 대회 참가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840480"/>
            <a:ext cx="3520440" cy="1874519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4069080"/>
            <a:ext cx="4114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6177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지역 랭킹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2920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활동 점수, 동네 등급, 클랜 순위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520440" cy="1874519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58200" y="4069080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6177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대회/이벤트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02920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테트리스, 얼짱, 로컬 챌린지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사용자 시나리오: 강남 사람이 여수에 가는 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06040" cy="2286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0292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강남ON 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사용자는 강남 태그와 미니홈피를 가진다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91640"/>
            <a:ext cx="2606040" cy="2286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1874519"/>
            <a:ext cx="50292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745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여수ON 방문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260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출장 전 맛집·카페·관광 정보를 확인한다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2606040" cy="2286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1874519"/>
            <a:ext cx="50292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댓글/저장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여수 콘텐츠에 강남 태그가 붙은 반응을 남긴다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691640"/>
            <a:ext cx="2606040" cy="2286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1874519"/>
            <a:ext cx="50292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8745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51460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데이터 축적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260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여수ON은 외지인 선호와 현지인 추천을 함께 보여준다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51960"/>
            <a:ext cx="5303520" cy="196596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F9E795"/>
                </a:solidFill>
                <a:latin typeface="Malgun Gothic"/>
              </a:defRPr>
            </a:pPr>
            <a:r>
              <a:t>여수ON에서 가능한 인사이트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강남 유저가 저장한 여수 맛집 TOP 10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서울권 출장자가 많이 본 카페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현지인 추천 + 외지인 반응 높은 장소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지역별 방문·저장·댓글 전환 데이터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251960"/>
            <a:ext cx="5349240" cy="196596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48463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232D63"/>
                </a:solidFill>
                <a:latin typeface="Malgun Gothic"/>
              </a:defRPr>
            </a:pPr>
            <a:r>
              <a:t>검색 결과가 아니라</a:t>
            </a:r>
            <a:br/>
            <a:r>
              <a:t>"지역 간 반응 데이터"가</a:t>
            </a:r>
            <a:br/>
            <a:r>
              <a:t>ONtown의 자산입니다.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SOLUTION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클랜 시스템과 전국 이벤트 — 성장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각 지역 ON은 하나의 클랜. 지역 대항전이 소속감·참여·바이럴을 동시에 폭발시킵니다.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43434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232D63"/>
                </a:solidFill>
                <a:latin typeface="Malgun Gothic"/>
              </a:defRPr>
            </a:pPr>
            <a:r>
              <a:t>지역 대항 게임 리그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테트리스 등 진입장벽 낮은 게임 · "부산 대표 vs 광주 대표" 관전 콘텐츠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80360"/>
            <a:ext cx="1325880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지역 예선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94436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880360"/>
            <a:ext cx="1325880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880360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도(광역) 대회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4436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880360"/>
            <a:ext cx="1325880" cy="43891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880360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전국 대회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11880"/>
            <a:ext cx="4937760" cy="91440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937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우승 클랜의 영광</a:t>
            </a:r>
            <a:br/>
            <a:r>
              <a:t>= 지역 전체의 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91640"/>
            <a:ext cx="5349240" cy="43434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232D63"/>
                </a:solidFill>
                <a:latin typeface="Malgun Gothic"/>
              </a:defRPr>
            </a:pPr>
            <a:r>
              <a:t>전국 얼짱 대회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402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"우리 지역 대표를 스타로" — 참여·투표·바이럴을 만드는 서사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880360"/>
            <a:ext cx="1325880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880360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지역 예선·투표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94436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880360"/>
            <a:ext cx="1325880" cy="438912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880360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전국 우승자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4436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96167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880360"/>
            <a:ext cx="1325880" cy="43891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880360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기획사 프로필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611880"/>
            <a:ext cx="4937760" cy="9144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60"/>
            <a:ext cx="4937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연예계 데뷔 기회</a:t>
            </a:r>
            <a:br/>
            <a:r>
              <a:t>= 강력한 참여 동기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게임·얼짱에서 시작 → 지역 음식 대결 · 사진 공모전 · 지역 밴드 경연으로 무한 확장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GROWTH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성장 루프: 콘텐츠 → 정체성 → 경쟁 → 수익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74920" y="3337560"/>
            <a:ext cx="2011680" cy="100584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34747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ONtown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794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F9E795"/>
                </a:solidFill>
                <a:latin typeface="Malgun Gothic"/>
              </a:defRPr>
            </a:pPr>
            <a:r>
              <a:t>지역 세계관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2194560" cy="96012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2148840"/>
            <a:ext cx="320040" cy="3200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2140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콘텐츠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지역 맛집/카페/관광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11680"/>
            <a:ext cx="2194560" cy="96012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2148840"/>
            <a:ext cx="320040" cy="3200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2140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정체성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6888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미니홈피·지역 태그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4114800"/>
            <a:ext cx="2194560" cy="96012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8360" y="4251960"/>
            <a:ext cx="320040" cy="3200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422452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57200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방명록·일촌·대화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486400"/>
            <a:ext cx="2194560" cy="96012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95160" y="5623560"/>
            <a:ext cx="320040" cy="3200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559612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경쟁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94360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랭킹·대회·리그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5486400"/>
            <a:ext cx="2194560" cy="96012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37560" y="5623560"/>
            <a:ext cx="320040" cy="3200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559612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232D63"/>
                </a:solidFill>
                <a:latin typeface="Malgun Gothic"/>
              </a:defRPr>
            </a:pPr>
            <a:r>
              <a:t>수익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94360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광고·ON재화·스폰서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4개의 수익 축 — 지역 데이터가 곧 상품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1005840" cy="2743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핵심 수익원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지역 광고 · 제휴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맛집·카페·관광 소상공인 광고. '외지인 타겟 광고'(강남·송파 유저만 노출)는 독점 상품.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1005840" cy="27432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대형 이벤트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이벤트 스폰서십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게임 리그 — 게임사·식음료·지자체. 얼짱 — 뷰티·패션·기획사 제휴.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1005840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데이터+홍보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지자체 B2G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외지인 관심 데이터 리포트, 지역 축제 홍보 채널 판매.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40480"/>
            <a:ext cx="5394960" cy="19659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4114800"/>
            <a:ext cx="1005840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중장기 확장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26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ON 재화 · 커머스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미니홈피 꾸미기, 상점 입점, 특산물 공동구매, 대회 굿즈, 클랜 멤버십.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MARKET &amp;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비어 있는 교차점 — 지역 커뮤니티 × 지역 간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41148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232D63"/>
                </a:solidFill>
                <a:latin typeface="Malgun Gothic"/>
              </a:defRPr>
            </a:pPr>
            <a:r>
              <a:t>시장 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0C1220"/>
                </a:solidFill>
                <a:latin typeface="Malgun Gothic"/>
              </a:defRPr>
            </a:pPr>
            <a:r>
              <a:t>• 당근마켓 — 하이퍼로컬 잠재력 증명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0C1220"/>
                </a:solidFill>
                <a:latin typeface="Malgun Gothic"/>
              </a:defRPr>
            </a:pPr>
            <a:r>
              <a:t>• 국내 여행 시장 — 연간 수십조 원 규모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0C1220"/>
                </a:solidFill>
                <a:latin typeface="Malgun Gothic"/>
              </a:defRPr>
            </a:pPr>
            <a:r>
              <a:t>• '지역 커뮤니티 × 지역 간 이동' 교차점 = 공백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0C1220"/>
                </a:solidFill>
                <a:latin typeface="Malgun Gothic"/>
              </a:defRPr>
            </a:pPr>
            <a:r>
              <a:t>• ONtown = 외지인 환영을 구조화한 최초의 지역 커뮤니티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349240" cy="123444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96167"/>
                </a:solidFill>
                <a:latin typeface="Malgun Gothic"/>
              </a:defRPr>
            </a:pPr>
            <a:r>
              <a:t>당근마켓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내 동네 중심, 타 지역 탐색·교류 부재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108960"/>
            <a:ext cx="5349240" cy="12344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96167"/>
                </a:solidFill>
                <a:latin typeface="Malgun Gothic"/>
              </a:defRPr>
            </a:pPr>
            <a:r>
              <a:t>맘카페·지역 카페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폐쇄적, 외지인 진입 불가, UX 파편화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526280"/>
            <a:ext cx="5349240" cy="12344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96167"/>
                </a:solidFill>
                <a:latin typeface="Malgun Gothic"/>
              </a:defRPr>
            </a:pPr>
            <a:r>
              <a:t>네이버·블로그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292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광고성 콘텐츠, 커뮤니티성 부재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97880"/>
            <a:ext cx="10972800" cy="384048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436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클랜 이벤트라는 자체 콘텐츠 엔진 + 지역 태그 데이터 = 명확한 차별화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거점에서 전국으로 — 3단계 성장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44348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20440" cy="777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731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거점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F9E795"/>
                </a:solidFill>
                <a:latin typeface="Malgun Gothic"/>
              </a:defRPr>
            </a:pPr>
            <a:r>
              <a:t>0 – 12개월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강남ON 플래그십 런칭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여수·강릉·부산 등 관광 거점 개설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'출장·여행 전 필수 앱' 포지셔닝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0~3M: 강남ON 고도화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4~6M: 서울권 확장 (송파·잠실·성수)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520440" cy="44348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40"/>
            <a:ext cx="3520440" cy="7772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83080"/>
            <a:ext cx="731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클랜 문화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F9E795"/>
                </a:solidFill>
                <a:latin typeface="Malgun Gothic"/>
              </a:defRPr>
            </a:pPr>
            <a:r>
              <a:t>12 – 24개월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060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첫 지역 대항 테트리스 리그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얼짱 대회 지역 예선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광역 ON 오픈 · 지역 태그 고도화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7~9M: 관광 도시 확장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지역 광고 상품 정식 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91640"/>
            <a:ext cx="3520440" cy="44348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3520440" cy="777240"/>
          </a:xfrm>
          <a:prstGeom prst="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83080"/>
            <a:ext cx="731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전국 플랫폼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F9E795"/>
                </a:solidFill>
                <a:latin typeface="Malgun Gothic"/>
              </a:defRPr>
            </a:pPr>
            <a:r>
              <a:t>24개월 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060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전국 대회 정례화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브랜드·기획사 제휴 확대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지자체 B2G 사업 본격화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10~12M: 리그화·스폰서 패키지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커머스 연계 수익 다각화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KPI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12개월 핵심 목표 — 12개월 차 월 손익분기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51760" cy="15087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2600" b="1">
                <a:solidFill>
                  <a:srgbClr val="F96167"/>
                </a:solidFill>
                <a:latin typeface="Malgun Gothic"/>
              </a:defRPr>
            </a:pPr>
            <a:r>
              <a:t>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가입자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강남·서울권·관광도시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691640"/>
            <a:ext cx="2651760" cy="15087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82880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2600" b="1">
                <a:solidFill>
                  <a:srgbClr val="F96167"/>
                </a:solidFill>
                <a:latin typeface="Malgun Gothic"/>
              </a:defRPr>
            </a:pPr>
            <a:r>
              <a:t>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3774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MAU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콘텐츠/미니홈피 재방문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2651760" cy="15087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2600" b="1">
                <a:solidFill>
                  <a:srgbClr val="F96167"/>
                </a:solidFill>
                <a:latin typeface="Malgun Gothic"/>
              </a:defRPr>
            </a:pPr>
            <a:r>
              <a:t>8개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지역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강남·송파·여수·강릉·부산 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91640"/>
            <a:ext cx="2651760" cy="150876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182880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2600" b="1">
                <a:solidFill>
                  <a:srgbClr val="F96167"/>
                </a:solidFill>
                <a:latin typeface="Malgun Gothic"/>
              </a:defRPr>
            </a:pPr>
            <a:r>
              <a:t>1.25억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3774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M12 월매출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BEP 진입 목표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9000"/>
            <a:ext cx="10972800" cy="32004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defRPr sz="1000" b="1">
                <a:solidFill>
                  <a:srgbClr val="2F3C7E"/>
                </a:solidFill>
                <a:latin typeface="Malgun Gothic"/>
              </a:defRPr>
            </a:pPr>
            <a:r>
              <a:t>M12 매출 구성: 지역 광고 45M · 상점 입점 28M · ON 재화 24M · 스폰서 18M · 데이터 10M  (단위: 백만 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03520" cy="214884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F9E795"/>
                </a:solidFill>
                <a:latin typeface="Malgun Gothic"/>
              </a:defRPr>
            </a:pPr>
            <a:r>
              <a:t>12개월 차 재무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t>• 월 매출 1.25억 원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t>• 월 비용 1.16억 원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t>• → 월 손익분기 진입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t>• 초기 3개월 제품 완성, 4개월 차부터 매출 발생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77639"/>
            <a:ext cx="5349240" cy="214884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14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추가 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상점 입점 300곳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대회 개최 12회 (지역 예선 + 온라인)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지역 ON 8개 오픈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투자금 사용 계획 — 12억 원 / 12개월 런웨이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291839" cy="56692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64792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인건비  —  581백만 — 8인 핵심팀 + 4대보험/복리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1028700" cy="5669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2316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232D63"/>
                </a:solidFill>
                <a:latin typeface="Malgun Gothic"/>
              </a:defRPr>
            </a:pPr>
            <a:r>
              <a:t>마케팅/콘텐츠  —  180백만 — 런칭·지역 확장·숏폼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08376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08376"/>
            <a:ext cx="685800" cy="566928"/>
          </a:xfrm>
          <a:prstGeom prst="rect">
            <a:avLst/>
          </a:prstGeom>
          <a:solidFill>
            <a:srgbClr val="B58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998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8152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232D63"/>
                </a:solidFill>
                <a:latin typeface="Malgun Gothic"/>
              </a:defRPr>
            </a:pPr>
            <a:r>
              <a:t>대회/이벤트  —  120백만 — 테트리스·얼짱·리워드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66744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66744"/>
            <a:ext cx="685800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5818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3989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232D63"/>
                </a:solidFill>
                <a:latin typeface="Malgun Gothic"/>
              </a:defRPr>
            </a:pPr>
            <a:r>
              <a:t>예비비  —  125백만 — 약 12% 버퍼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25112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25112"/>
            <a:ext cx="48006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1655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398264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232D63"/>
                </a:solidFill>
                <a:latin typeface="Malgun Gothic"/>
              </a:defRPr>
            </a:pPr>
            <a:r>
              <a:t>인프라/API  —  84백만 — 서버·DB·지도·AI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983480"/>
            <a:ext cx="411479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56632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232D63"/>
                </a:solidFill>
                <a:latin typeface="Malgun Gothic"/>
              </a:defRPr>
            </a:pPr>
            <a:r>
              <a:t>강남 사무실  —  74백만 — 6~8인 공유오피스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41848"/>
            <a:ext cx="7132320" cy="566928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641848"/>
            <a:ext cx="205739" cy="56692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332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71500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232D63"/>
                </a:solidFill>
                <a:latin typeface="Malgun Gothic"/>
              </a:defRPr>
            </a:pPr>
            <a:r>
              <a:t>법무/회계  —  36백만 — 법인 운영·약관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1691640"/>
            <a:ext cx="3520440" cy="4572000"/>
          </a:xfrm>
          <a:prstGeom prst="roundRect">
            <a:avLst/>
          </a:prstGeom>
          <a:solidFill>
            <a:srgbClr val="232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874519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F9E795"/>
                </a:solidFill>
                <a:latin typeface="Malgun Gothic"/>
              </a:defRPr>
            </a:pPr>
            <a:r>
              <a:t>총 필요 자금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33172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12억 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06324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≈ 1,200백만 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204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플랫폼 개발 40%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지역 활성화 30%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첫 전국 이벤트 20%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운영·제휴 10%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FFFFFF"/>
                </a:solidFill>
                <a:latin typeface="Malgun Gothic"/>
              </a:defRPr>
            </a:pPr>
            <a:r>
              <a:t>• (사업계획서 기준 배분)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TEAM &amp;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2600" b="1">
                <a:solidFill>
                  <a:srgbClr val="232D63"/>
                </a:solidFill>
                <a:latin typeface="Malgun Gothic"/>
              </a:defRPr>
            </a:pPr>
            <a:r>
              <a:t>초기 8인 팀과 강남 거점 운영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"/>
            <a:ext cx="5029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5176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CEO/PM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48M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전략·투자·제품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91640"/>
            <a:ext cx="265176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01368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90M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134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아키텍처·보안·데이터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691640"/>
            <a:ext cx="265176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801368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Full-stack ×2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0574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140M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3134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웹/앱/관리자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691640"/>
            <a:ext cx="265176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801368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Backend/Data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0574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75M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3134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지역 태그·랭킹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063240"/>
            <a:ext cx="292608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172968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4290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55M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685032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브랜드·UX·미니홈피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3063240"/>
            <a:ext cx="292608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172968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4290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55M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685032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런칭·콘텐츠·광고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063240"/>
            <a:ext cx="2926080" cy="114300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232D63"/>
                </a:solidFill>
                <a:latin typeface="Malgun Gothic"/>
              </a:defRPr>
            </a:pPr>
            <a:r>
              <a:t>Community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42900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F96167"/>
                </a:solidFill>
                <a:latin typeface="Malgun Gothic"/>
              </a:defRPr>
            </a:pPr>
            <a:r>
              <a:t>42M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685032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지역 운영·이벤트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34840"/>
            <a:ext cx="10972800" cy="1691640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5720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232D63"/>
                </a:solidFill>
                <a:latin typeface="Malgun Gothic"/>
              </a:defRPr>
            </a:pPr>
            <a:r>
              <a:t>강남 사무실 운영 가정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920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6~8인 업무공간 · 월 450만 원 (보증금·회의 비용 포함)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투자자·파트너 미팅 접근성을 고려한 강남 거점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57200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공개 매물 기준 강남 공유오피스 6인실 월 374만 원 사례 확인.</a:t>
            </a:r>
            <a:br/>
            <a:r>
              <a:t>본 계획은 여유 좌석·회의/운영 비용을 포함해</a:t>
            </a:r>
            <a:br/>
            <a:r>
              <a:t>월 450만 원으로 보수적 산정.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1097280" cy="109728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6167"/>
                </a:solidFill>
                <a:latin typeface="Malgun Gothic"/>
              </a:defRPr>
            </a:pPr>
            <a:r>
              <a:t>INVESTMENT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12억 원으로 강남ON을 검증하고</a:t>
            </a:r>
            <a:br/>
            <a:r>
              <a:t>ONtown 전국 확장의 첫 해를 만듭니다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Malgun Gothic"/>
              </a:defRPr>
            </a:pPr>
            <a:r>
              <a:t>• 핵심 8인 팀 확보 및 12개월 제품 개발/운영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Malgun Gothic"/>
              </a:defRPr>
            </a:pPr>
            <a:r>
              <a:t>• 강남 거점 사무실 · 투자자/파트너 미팅 기반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Malgun Gothic"/>
              </a:defRPr>
            </a:pPr>
            <a:r>
              <a:t>• 강남ON 활성화 → 서울권·관광도시 ON 확장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Malgun Gothic"/>
              </a:defRPr>
            </a:pPr>
            <a:r>
              <a:t>• 지역 태그 데이터 · 미니홈피 · ON 재화 · 대회 수익화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560320"/>
            <a:ext cx="4389120" cy="2560320"/>
          </a:xfrm>
          <a:prstGeom prst="roundRect">
            <a:avLst/>
          </a:prstGeom>
          <a:solidFill>
            <a:srgbClr val="1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7432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1">
                <a:solidFill>
                  <a:srgbClr val="F9E795"/>
                </a:solidFill>
                <a:latin typeface="Malgun Gothic"/>
              </a:defRPr>
            </a:pPr>
            <a:r>
              <a:t>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15468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12개월 차 월 손익분기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49039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M12 월매출 1.25억 / 월비용 1.16억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1400" b="0">
                <a:solidFill>
                  <a:srgbClr val="CBD5E1"/>
                </a:solidFill>
                <a:latin typeface="Malgun Gothic"/>
              </a:defRPr>
            </a:pPr>
            <a:r>
              <a:t>모든 지역이 클랜으로 살아 숨 쉬고, 서로 경쟁하고 교류하며,</a:t>
            </a:r>
            <a:br/>
            <a:r>
              <a:t>지역의 상권과 인재가 전국 무대로 올라서는 세계.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800" b="1">
                <a:solidFill>
                  <a:srgbClr val="F9E795"/>
                </a:solidFill>
                <a:latin typeface="Malgun Gothic"/>
              </a:defRPr>
            </a:pPr>
            <a:r>
              <a:t>"당신이 어디에 있든, 그 지역은 ON 되어 있다."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ONtown (온타운)  |  투자 문의: contact@ontown.kr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ONtown Investor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