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d849a5ab9b4c4d" /><Relationship Type="http://schemas.openxmlformats.org/officeDocument/2006/relationships/extended-properties" Target="/docProps/app.xml" Id="R3eaf99374601436c" /><Relationship Type="http://schemas.openxmlformats.org/officeDocument/2006/relationships/officeDocument" Target="/ppt/presentation.xml" Id="R08e7598861b948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a78b86665748e9"/>
  </p:sldMasterIdLst>
  <p:notesMasterIdLst>
    <p:notesMasterId xmlns:r="http://schemas.openxmlformats.org/officeDocument/2006/relationships" r:id="R1a4465a5980145cd"/>
  </p:notesMasterIdLst>
  <p:sldIdLst>
    <p:sldId xmlns:r="http://schemas.openxmlformats.org/officeDocument/2006/relationships" id="256" r:id="R31e461c8bd4647c2"/>
    <p:sldId xmlns:r="http://schemas.openxmlformats.org/officeDocument/2006/relationships" id="257" r:id="Rd5d7687e0af64244"/>
    <p:sldId xmlns:r="http://schemas.openxmlformats.org/officeDocument/2006/relationships" id="258" r:id="R00c922e1ea6b4d93"/>
    <p:sldId xmlns:r="http://schemas.openxmlformats.org/officeDocument/2006/relationships" id="259" r:id="Rca809b9157ec44df"/>
    <p:sldId xmlns:r="http://schemas.openxmlformats.org/officeDocument/2006/relationships" id="260" r:id="Recfd0472dc4741f5"/>
    <p:sldId xmlns:r="http://schemas.openxmlformats.org/officeDocument/2006/relationships" id="261" r:id="R53d87bfc55c84a0e"/>
    <p:sldId xmlns:r="http://schemas.openxmlformats.org/officeDocument/2006/relationships" id="262" r:id="Rda288ce1ee4e46b5"/>
    <p:sldId xmlns:r="http://schemas.openxmlformats.org/officeDocument/2006/relationships" id="263" r:id="R2efe933b54a24bcd"/>
    <p:sldId xmlns:r="http://schemas.openxmlformats.org/officeDocument/2006/relationships" id="264" r:id="Rb85bdafb9a144404"/>
    <p:sldId xmlns:r="http://schemas.openxmlformats.org/officeDocument/2006/relationships" id="265" r:id="R0d50b5a5e67e4282"/>
    <p:sldId xmlns:r="http://schemas.openxmlformats.org/officeDocument/2006/relationships" id="266" r:id="Rdc217683e4834c54"/>
    <p:sldId xmlns:r="http://schemas.openxmlformats.org/officeDocument/2006/relationships" id="267" r:id="R2af7100ea25c4661"/>
    <p:sldId xmlns:r="http://schemas.openxmlformats.org/officeDocument/2006/relationships" id="268" r:id="R1a63d5ebf09b46b4"/>
    <p:sldId xmlns:r="http://schemas.openxmlformats.org/officeDocument/2006/relationships" id="269" r:id="R107b99c20c45439a"/>
    <p:sldId xmlns:r="http://schemas.openxmlformats.org/officeDocument/2006/relationships" id="270" r:id="R4472f00d7b804c5e"/>
    <p:sldId xmlns:r="http://schemas.openxmlformats.org/officeDocument/2006/relationships" id="271" r:id="Rfa842820ca7044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de3305a5464529" /><Relationship Type="http://schemas.openxmlformats.org/officeDocument/2006/relationships/slideMaster" Target="/ppt/slideMasters/slideMaster1.xml" Id="Rf9a78b86665748e9" /><Relationship Type="http://schemas.openxmlformats.org/officeDocument/2006/relationships/notesMaster" Target="/ppt/notesMasters/notesMaster1.xml" Id="R1a4465a5980145cd" /><Relationship Type="http://schemas.openxmlformats.org/officeDocument/2006/relationships/presProps" Target="/ppt/presProps.xml" Id="R910bcc0dde574e1a" /><Relationship Type="http://schemas.openxmlformats.org/officeDocument/2006/relationships/tableStyles" Target="/ppt/tableStyles.xml" Id="R58982c76746f444d" /><Relationship Type="http://schemas.openxmlformats.org/officeDocument/2006/relationships/slide" Target="/ppt/slides/slide1.xml" Id="R31e461c8bd4647c2" /><Relationship Type="http://schemas.openxmlformats.org/officeDocument/2006/relationships/slide" Target="/ppt/slides/slide2.xml" Id="Rd5d7687e0af64244" /><Relationship Type="http://schemas.openxmlformats.org/officeDocument/2006/relationships/slide" Target="/ppt/slides/slide3.xml" Id="R00c922e1ea6b4d93" /><Relationship Type="http://schemas.openxmlformats.org/officeDocument/2006/relationships/slide" Target="/ppt/slides/slide4.xml" Id="Rca809b9157ec44df" /><Relationship Type="http://schemas.openxmlformats.org/officeDocument/2006/relationships/slide" Target="/ppt/slides/slide5.xml" Id="Recfd0472dc4741f5" /><Relationship Type="http://schemas.openxmlformats.org/officeDocument/2006/relationships/slide" Target="/ppt/slides/slide6.xml" Id="R53d87bfc55c84a0e" /><Relationship Type="http://schemas.openxmlformats.org/officeDocument/2006/relationships/slide" Target="/ppt/slides/slide7.xml" Id="Rda288ce1ee4e46b5" /><Relationship Type="http://schemas.openxmlformats.org/officeDocument/2006/relationships/slide" Target="/ppt/slides/slide8.xml" Id="R2efe933b54a24bcd" /><Relationship Type="http://schemas.openxmlformats.org/officeDocument/2006/relationships/slide" Target="/ppt/slides/slide9.xml" Id="Rb85bdafb9a144404" /><Relationship Type="http://schemas.openxmlformats.org/officeDocument/2006/relationships/slide" Target="/ppt/slides/slide10.xml" Id="R0d50b5a5e67e4282" /><Relationship Type="http://schemas.openxmlformats.org/officeDocument/2006/relationships/slide" Target="/ppt/slides/slide11.xml" Id="Rdc217683e4834c54" /><Relationship Type="http://schemas.openxmlformats.org/officeDocument/2006/relationships/slide" Target="/ppt/slides/slide12.xml" Id="R2af7100ea25c4661" /><Relationship Type="http://schemas.openxmlformats.org/officeDocument/2006/relationships/slide" Target="/ppt/slides/slide13.xml" Id="R1a63d5ebf09b46b4" /><Relationship Type="http://schemas.openxmlformats.org/officeDocument/2006/relationships/slide" Target="/ppt/slides/slide14.xml" Id="R107b99c20c45439a" /><Relationship Type="http://schemas.openxmlformats.org/officeDocument/2006/relationships/slide" Target="/ppt/slides/slide15.xml" Id="R4472f00d7b804c5e" /><Relationship Type="http://schemas.openxmlformats.org/officeDocument/2006/relationships/slide" Target="/ppt/slides/slide16.xml" Id="Rfa842820ca7044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6b8db9be804a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870171609f4682" /><Relationship Type="http://schemas.openxmlformats.org/officeDocument/2006/relationships/notesMaster" Target="/ppt/notesMasters/notesMaster1.xml" Id="R25d0228dc2994d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d41aa3d8444773" /><Relationship Type="http://schemas.openxmlformats.org/officeDocument/2006/relationships/notesMaster" Target="/ppt/notesMasters/notesMaster1.xml" Id="R5207d33590af49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7a86967f094307" /><Relationship Type="http://schemas.openxmlformats.org/officeDocument/2006/relationships/notesMaster" Target="/ppt/notesMasters/notesMaster1.xml" Id="Rf03a5ae2a32045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0951d83e494659" /><Relationship Type="http://schemas.openxmlformats.org/officeDocument/2006/relationships/notesMaster" Target="/ppt/notesMasters/notesMaster1.xml" Id="R0be2a2d272d94c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4e125954db4c34" /><Relationship Type="http://schemas.openxmlformats.org/officeDocument/2006/relationships/notesMaster" Target="/ppt/notesMasters/notesMaster1.xml" Id="Rb7112aced6d04d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85ddf0f5a342bf" /><Relationship Type="http://schemas.openxmlformats.org/officeDocument/2006/relationships/notesMaster" Target="/ppt/notesMasters/notesMaster1.xml" Id="Ra38e788c514d4d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5449f721344a1b" /><Relationship Type="http://schemas.openxmlformats.org/officeDocument/2006/relationships/notesMaster" Target="/ppt/notesMasters/notesMaster1.xml" Id="R50dae1a281384e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68c98cf1dd43b1" /><Relationship Type="http://schemas.openxmlformats.org/officeDocument/2006/relationships/notesMaster" Target="/ppt/notesMasters/notesMaster1.xml" Id="R81ea088643374d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ced7a7240446e6" /><Relationship Type="http://schemas.openxmlformats.org/officeDocument/2006/relationships/notesMaster" Target="/ppt/notesMasters/notesMaster1.xml" Id="R813e58a07cea4d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07f89b137d438d" /><Relationship Type="http://schemas.openxmlformats.org/officeDocument/2006/relationships/notesMaster" Target="/ppt/notesMasters/notesMaster1.xml" Id="R2606d313e5ed40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f03b1933e449a3" /><Relationship Type="http://schemas.openxmlformats.org/officeDocument/2006/relationships/notesMaster" Target="/ppt/notesMasters/notesMaster1.xml" Id="Ra4477531737749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d0448576874f97" /><Relationship Type="http://schemas.openxmlformats.org/officeDocument/2006/relationships/notesMaster" Target="/ppt/notesMasters/notesMaster1.xml" Id="R13f121b9561b46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57e21fe55940dd" /><Relationship Type="http://schemas.openxmlformats.org/officeDocument/2006/relationships/notesMaster" Target="/ppt/notesMasters/notesMaster1.xml" Id="Rb792f4a2c7dd41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b946139c4d4a42" /><Relationship Type="http://schemas.openxmlformats.org/officeDocument/2006/relationships/notesMaster" Target="/ppt/notesMasters/notesMaster1.xml" Id="R393947d017a241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c02e222c27476c" /><Relationship Type="http://schemas.openxmlformats.org/officeDocument/2006/relationships/notesMaster" Target="/ppt/notesMasters/notesMaster1.xml" Id="R31a5bbfcf7d8409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4877fdff024731" /><Relationship Type="http://schemas.openxmlformats.org/officeDocument/2006/relationships/notesMaster" Target="/ppt/notesMasters/notesMaster1.xml" Id="Rbdc665af076e42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dc3e5b6574b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b2c4f1573847b0" /><Relationship Type="http://schemas.openxmlformats.org/officeDocument/2006/relationships/slideLayout" Target="/ppt/slideLayouts/slideLayout1.xml" Id="R25fcd3141c6c4e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fcd3141c6c4e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a079574884670" /><Relationship Type="http://schemas.openxmlformats.org/officeDocument/2006/relationships/notesSlide" Target="/ppt/notesSlides/notesSlide1.xml" Id="R523b6949a2fc4f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9ac919d2d4f79" /><Relationship Type="http://schemas.openxmlformats.org/officeDocument/2006/relationships/notesSlide" Target="/ppt/notesSlides/notesSlide2.xml" Id="Rcd8577825bfc42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b801399434f6f" /><Relationship Type="http://schemas.openxmlformats.org/officeDocument/2006/relationships/notesSlide" Target="/ppt/notesSlides/notesSlide3.xml" Id="R37a96ea61d0a40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615b7f10a41f1" /><Relationship Type="http://schemas.openxmlformats.org/officeDocument/2006/relationships/notesSlide" Target="/ppt/notesSlides/notesSlide4.xml" Id="Rd8b29f8fc1b942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735b024954c7a" /><Relationship Type="http://schemas.openxmlformats.org/officeDocument/2006/relationships/notesSlide" Target="/ppt/notesSlides/notesSlide5.xml" Id="Re18feba6f8db4d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a6dcc42f84e8a" /><Relationship Type="http://schemas.openxmlformats.org/officeDocument/2006/relationships/notesSlide" Target="/ppt/notesSlides/notesSlide6.xml" Id="R1065b0f0f3cd45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c85e28cca4c4a" /><Relationship Type="http://schemas.openxmlformats.org/officeDocument/2006/relationships/notesSlide" Target="/ppt/notesSlides/notesSlide7.xml" Id="R11aa5146efd94b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ae37b148f4093" /><Relationship Type="http://schemas.openxmlformats.org/officeDocument/2006/relationships/notesSlide" Target="/ppt/notesSlides/notesSlide8.xml" Id="Rc52877a692454d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6364f279c4b89" /><Relationship Type="http://schemas.openxmlformats.org/officeDocument/2006/relationships/notesSlide" Target="/ppt/notesSlides/notesSlide9.xml" Id="R214512715e4c4f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f0354e4d64676" /><Relationship Type="http://schemas.openxmlformats.org/officeDocument/2006/relationships/notesSlide" Target="/ppt/notesSlides/notesSlide10.xml" Id="R2b6582c862044d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ff244b3d44c98" /><Relationship Type="http://schemas.openxmlformats.org/officeDocument/2006/relationships/notesSlide" Target="/ppt/notesSlides/notesSlide11.xml" Id="Rc5af76fffe4440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f278a16584042" /><Relationship Type="http://schemas.openxmlformats.org/officeDocument/2006/relationships/notesSlide" Target="/ppt/notesSlides/notesSlide12.xml" Id="R30891beabc5748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74b39568245ff" /><Relationship Type="http://schemas.openxmlformats.org/officeDocument/2006/relationships/notesSlide" Target="/ppt/notesSlides/notesSlide13.xml" Id="R25a3a0a54f7949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c871546a645c9" /><Relationship Type="http://schemas.openxmlformats.org/officeDocument/2006/relationships/notesSlide" Target="/ppt/notesSlides/notesSlide14.xml" Id="Rbe5c08493c424e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bee118ac04cde" /><Relationship Type="http://schemas.openxmlformats.org/officeDocument/2006/relationships/notesSlide" Target="/ppt/notesSlides/notesSlide15.xml" Id="Ra3b8fe13969e44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24ca756a94427" /><Relationship Type="http://schemas.openxmlformats.org/officeDocument/2006/relationships/notesSlide" Target="/ppt/notesSlides/notesSlide16.xml" Id="R7790454d161341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DBB333-1DA9-491A-BA97-9A0AB8B4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F508C-32B9-4F84-A810-1D828101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ONtown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112F3-BBDD-4437-8161-788BD858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7087"/>
                </a:solidFill>
              </a:defRPr>
            </a:pPr>
            <a:r>
              <a:rPr sz="1875" b="0">
                <a:solidFill>
                  <a:srgbClr val="607087"/>
                </a:solidFill>
              </a:rPr>
              <a:t>지역이 켜지고, 사람이 연결되는 전국 로컬 커뮤니티 네트워크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A7C68-18E0-458A-A991-21B4FD0D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강남ON에서 검증한 지역 커뮤니티 모델을 전국 ON 네트워크로 확장합니다.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13090-E7D9-4822-BED0-77D955DD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9906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E1698-DD3A-4C5C-B4A5-B1936D20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강남ON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40B4B-9AC6-4A9D-9F7C-63C851F1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90950"/>
            <a:ext cx="9906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2AB28-96DF-4D9F-8384-F52541DD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67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송파ON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5F0E8-73C7-406D-94CA-2C479741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90950"/>
            <a:ext cx="9906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7AF3B-4F0F-42D5-9A00-F8B99563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67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부산ON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7FE49-0E07-47B8-8D1D-C41B6D36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90950"/>
            <a:ext cx="9906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10CE6-AB47-4E55-A5D1-06202DB7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67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여수ON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55E1B-77DE-4160-B13A-EC37802D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90950"/>
            <a:ext cx="9906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C1818-8FFD-486A-A2C0-D855E2DE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67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강릉ON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3E4B3-2BAF-4E6F-BDE3-F35A1280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90950"/>
            <a:ext cx="9906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DC51B-BDFF-4AA8-A11B-446A883C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67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광주ON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18A995-2CD5-476D-8230-86EA3F3F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00100"/>
            <a:ext cx="3143250" cy="4667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6363A-0D9B-4844-9239-827DC24A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투자 유치 사업계획서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BF924-37D4-42CC-A283-EAE3CCDE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2333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지역별 ON은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하나의 클랜이 되고,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ONtown은 그 클랜들이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경쟁하고 교류하는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대표 브랜드가 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C5ADC-87D4-4A55-A2E7-DD980AC8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10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6C2D2"/>
                </a:solidFill>
              </a:defRPr>
            </a:pPr>
            <a:r>
              <a:rPr sz="1200" b="0">
                <a:solidFill>
                  <a:srgbClr val="B6C2D2"/>
                </a:solidFill>
              </a:rPr>
              <a:t>2026.07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25A6D-6D83-4FCD-AE98-28F4DC5C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5033DA-60AB-4E62-984B-6338FB63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9381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B08D00-9A3F-478C-B437-94EB32DA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952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8995F-53B9-47F5-B976-F601577D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9FD39-6666-4E5B-9930-63C37090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ONtown은 지역 커뮤니티를 ‘검색’이 아니라 ‘소속’으로 바꿉니다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24FD5-FFCF-4941-8880-384F81C1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7"/>
                </a:solidFill>
              </a:defRPr>
            </a:pPr>
            <a:r>
              <a:rPr sz="1575" b="0">
                <a:solidFill>
                  <a:srgbClr val="607087"/>
                </a:solidFill>
              </a:rPr>
              <a:t>각 지역의 ON은 생활 정보, 사람, 이벤트, 미니홈피를 묶어 지역 정체성을 만드는 로컬 네트워크입니다.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40D8F-C211-495B-B17A-085A3D13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DB275-89BB-4235-BCBC-78BBF523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A4B49-6D9E-4934-AEFE-D5EF53DB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9EE77-4F03-4C4A-BA3D-4EDC5E7D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B44BD-C98A-4189-BAB9-41F8BA04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확장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00E70-36BD-43B4-BB0E-6F711B9A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01. 지역 ON 네트워크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F6B86-9243-41DF-9C53-A884FDA3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강남ON을 시작으로 송파ON, 부산ON, 여수ON 등 전국 지역 단위 서비스를 확장합니다.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FD204-D07F-4C14-B128-B5C57817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3238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79F55-2DEB-49AD-872B-DEDC1132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9095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41BF9-7495-4A37-A8B1-9C967684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67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소속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984C1-7EC6-4D4F-AF7E-96C6AA58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291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02. 클랜형 커뮤니티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425B7-E5CB-4540-9C9B-40E9AB83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1010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사용자는 출신/활동 지역 태그를 갖고 다른 지역에서도 정체성을 드러냅니다.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676A6-0455-4598-8B39-A97072C2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00450"/>
            <a:ext cx="3238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752CD-3D9E-4B12-8D14-E27ABD49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75590-ADE0-4541-8AF1-9E1E7FA2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성장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EE5E1-AB65-4A14-9F19-BC2FB664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291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03. 이벤트 성장 엔진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04885-5BD2-4267-B1EE-1E6B00E9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1010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지역 예선, 도 대회, 전국 대회로 테트리스·얼짱·모임 이벤트를 운영합니다.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24D25-6E02-4027-9991-54AF806A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8BF96-5F33-4FC3-9A2B-D6C8D51F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681640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7B9322-6A64-47A1-9F5E-591ED07C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952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D44FE-ACB8-49D6-83FD-1EB2C3FD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C27BC-1ABC-49C3-8570-FC2AC39D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로컬 플랫폼은 많지만, 지역의 ‘사람’을 기억하게 만들지는 못합니다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3869E-D76E-452A-A1C3-268555C7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7"/>
                </a:solidFill>
              </a:defRPr>
            </a:pPr>
            <a:r>
              <a:rPr sz="1575" b="0">
                <a:solidFill>
                  <a:srgbClr val="607087"/>
                </a:solidFill>
              </a:rPr>
              <a:t>맛집·관광·커뮤니티·중고거래는 흩어져 있고, 사용자의 지역 정체성과 관계가 지속적으로 쌓이지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B6EB3-60F0-4601-8BA5-E3A69B4D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B3963-5F55-45BA-9E5A-BDE17710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EB052-3696-4793-AF66-1C6C742D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667D9-189E-4E92-AABE-F61C4293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정보는 있지만 맥락이 부족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FFD53-3D5D-4770-A156-3A8FD13F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검색 결과는 많지만 현지인/외지인 관점, 방문 목적, 관계 맥락이 약합니다.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D94F7-14E8-4619-810D-4188ECE4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33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6FE0D-7B37-4BEE-B82D-FEE890ED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623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커뮤니티는 일회성 게시판에 머묾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A7504-FF87-4FB7-9CF3-5C114681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8145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게시글은 지나가지만 사용자의 정체성, 취향, 활동 이력은 축적되지 않습니다.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584E6-FDF7-4F91-8150-74E98E93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4E63D-3720-4EB5-BAB8-A2F1B8E8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623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지역 간 연결 구조가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EE5CC-AA9B-4CCF-A221-A5B32325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8145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강남 사람이 여수에 댓글을 남겨도 그 방문 맥락과 지역성이 서비스 자산으로 남지 않습니다.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1CDD8-DAB9-4C29-ADFA-5BE73AE8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F17EA-0C46-43C1-853F-3CABAE5C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0254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2C9244-83D2-4FD5-8FAE-EA7B96F0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952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C9931-F124-4C2E-BA39-ECF1854A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SOLUTION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35412-56C5-4693-A6FD-687CDEDB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전국의 지역 ON을 하나의 브랜드 아래 연결합니다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87848-6849-4AFB-ACCA-D9018646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7"/>
                </a:solidFill>
              </a:defRPr>
            </a:pPr>
            <a:r>
              <a:rPr sz="1575" b="0">
                <a:solidFill>
                  <a:srgbClr val="607087"/>
                </a:solidFill>
              </a:rPr>
              <a:t>각 지역 ON은 독립 커뮤니티처럼 운영되지만, 계정·태그·이벤트·재화를 공유하는 ONtown 네트워크로 묶입니다.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0A76C-839E-4762-A9ED-3929F441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B0746-FD30-4CE6-A378-8B13A5C1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B54F2-CF4F-4E07-A793-6B34EB13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85800"/>
            <a:ext cx="3143250" cy="4953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9218A-2430-4343-8037-D9C0F055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954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D6A11C"/>
                </a:solidFill>
              </a:defRPr>
            </a:pPr>
            <a:r>
              <a:rPr sz="5400" b="1">
                <a:solidFill>
                  <a:srgbClr val="D6A11C"/>
                </a:solidFill>
              </a:rPr>
              <a:t>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C3712-65C7-4CB6-90FE-2B5E60A8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지역의 정보와 사람을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하나의 정체성으로 묶는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로컬 네트워크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17AEB-D9F5-4C94-B43E-FDA03293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6C2D2"/>
                </a:solidFill>
              </a:defRPr>
            </a:pPr>
            <a:r>
              <a:rPr sz="1200" b="0">
                <a:solidFill>
                  <a:srgbClr val="B6C2D2"/>
                </a:solidFill>
              </a:rPr>
              <a:t>GangNam → Songpa → Busan → Yeosu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F84C6-2583-4E48-8F6D-57618071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905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8C56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D2A5A-71F0-4C16-B8AE-7EF28C57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강남ON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F82CE-B656-490B-ACF1-34060AFA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447800" cy="-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1차 검증 거점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0DD43-9446-4957-A7D5-B50C60F0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57600"/>
            <a:ext cx="1905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E7B3A-921B-422C-B018-63B3800B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862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송파ON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B1313-F871-4354-81A3-71BEEA1C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05300"/>
            <a:ext cx="1447800" cy="-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확장 후보 지역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FA458-FD59-4DCD-86D8-0DFB8CA5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57600"/>
            <a:ext cx="1905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6E062-C233-4FEF-81B8-AEC271EF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862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부산ON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EE33B-2068-4548-B424-14CBFE8A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05300"/>
            <a:ext cx="1447800" cy="-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확장 후보 지역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C6C70-EE43-4571-91DC-85ECD882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905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C0C0F-AA39-4963-B0FD-01CD8C9A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여수ON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7EB040-2696-4267-A596-CA911FB4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447800" cy="-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확장 후보 지역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1907E-9204-4D47-B8DB-8D6B862A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76750"/>
            <a:ext cx="1905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1DC9B1-D1D6-4C85-A8DC-EA9390BD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053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강릉ON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DED4B-A9BF-4D5F-8FD4-B691C9FB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24450"/>
            <a:ext cx="1447800" cy="-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확장 후보 지역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D399D-6592-4179-A62D-7F5FEB36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76750"/>
            <a:ext cx="1905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E49251-DACC-4EBD-9F20-44F67462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7053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광주ON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2FEE48-4FEE-4BAF-991F-FABDE261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124450"/>
            <a:ext cx="1447800" cy="-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확장 후보 지역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B51FD8-B6C2-4D16-BAE3-467CAF23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64BDAC-908E-44A2-A07E-44E4CBA0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0941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6816D3-CBEC-4BCE-A3C4-7EC598DD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952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41520-C05E-4FA3-B0DA-96E8D5A0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SOLUTION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04A0F-1F8F-4F81-89E7-4C6A2CF2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지역 태그는 외지인의 행동까지 로컬 데이터로 바꿉니다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8D25F-B0F3-47BE-A877-1B2ECB35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7"/>
                </a:solidFill>
              </a:defRPr>
            </a:pPr>
            <a:r>
              <a:rPr sz="1575" b="0">
                <a:solidFill>
                  <a:srgbClr val="607087"/>
                </a:solidFill>
              </a:rPr>
              <a:t>강남ON 가입자가 여수ON에 댓글을 달면 ‘강남’ 태그가 남아 지역 간 관심과 수요를 읽을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9F459-D7CA-43DA-A47D-9D3AB740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B907F-8C0D-4166-AA4F-74DDC6DF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DC61D-4485-43F4-8253-5B8DD91B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4953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F5995-2996-4AF2-969E-157131B7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여수ON 맛집 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FEA4C-FE57-4B4C-A185-7F2BAC86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7"/>
                </a:solidFill>
              </a:defRPr>
            </a:pPr>
            <a:r>
              <a:rPr sz="1350" b="0">
                <a:solidFill>
                  <a:srgbClr val="607087"/>
                </a:solidFill>
              </a:rPr>
              <a:t>[강남] 출장 왔다가 들렀는데 혼밥하기 좋네요.</a:t>
            </a:r>
          </a:p>
          <a:p xmlns:a="http://schemas.openxmlformats.org/drawingml/2006/main">
            <a:pPr algn="l">
              <a:defRPr sz="1350" b="0">
                <a:solidFill>
                  <a:srgbClr val="607087"/>
                </a:solidFill>
              </a:defRPr>
            </a:pPr>
            <a:r>
              <a:rPr sz="1350" b="0">
                <a:solidFill>
                  <a:srgbClr val="607087"/>
                </a:solidFill>
              </a:rPr>
              <a:t>[부산] 가족 여행 코스로도 괜찮아 보여요.</a:t>
            </a:r>
          </a:p>
          <a:p xmlns:a="http://schemas.openxmlformats.org/drawingml/2006/main">
            <a:pPr algn="l">
              <a:defRPr sz="1350" b="0">
                <a:solidFill>
                  <a:srgbClr val="607087"/>
                </a:solidFill>
              </a:defRPr>
            </a:pPr>
            <a:r>
              <a:rPr sz="1350" b="0">
                <a:solidFill>
                  <a:srgbClr val="607087"/>
                </a:solidFill>
              </a:rPr>
              <a:t>[광주] 주차 정보가 있으면 더 좋겠습니다.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1FD8E-7268-40BA-B951-3BD597AD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22581-C388-45F0-9E56-12178B88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BAEE2-7313-41C1-8B5E-E0FE247A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004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AFCD6-616D-4409-A084-A39F896C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624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지역 수요 파악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FCDBB-6D69-40ED-BF94-FE1B6CFB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4340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외지인이 좋아하는 음식, 카페 분위기, 관광 포인트를 데이터화합니다.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8BD5B-EFDE-4B1D-A578-DDC45C8C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337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B8CC3-52A2-4055-8AF6-71A4B897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2425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336C59-8B17-426B-AF2C-9AD99499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004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B2B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8AE709-2F73-49E2-944F-74A9B4EB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624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상권 영업 자산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AD3A1-F78E-40CD-AF6E-96DB42B6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4340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어떤 지역 사용자가 방문 의향을 보이는지 지역 사업자에게 제공합니다.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B6357-FAA4-4401-8C44-8E7CC16D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79D8EF-9F33-4D72-B41A-712A5024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81072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7C4FF6-59C6-4667-B7EC-80DDAC2F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952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DE3D0-AAA6-4115-8FDB-35648D1A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SOLUTION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D28FB-DF9C-4B09-8ED9-A13F7F82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이벤트는 지역 ON을 클랜으로 만드는 성장 장치입니다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6DC3D-271E-49EF-A31A-4F9F702C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7"/>
                </a:solidFill>
              </a:defRPr>
            </a:pPr>
            <a:r>
              <a:rPr sz="1575" b="0">
                <a:solidFill>
                  <a:srgbClr val="607087"/>
                </a:solidFill>
              </a:rPr>
              <a:t>지역 예선에서 도 대회, 전국 대회로 이어지는 구조는 참여 이유와 재방문 이유를 동시에 만듭니다.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C9E4D-B401-46B0-A4D4-D78C170E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24F90-21A0-4E13-A395-0F289653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6C2B4-BE1F-465A-87EF-62144BD9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19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E8FD3-9576-4DC1-BFC8-06A6B5AF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지역 예선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0E353-AFD9-450C-999D-58C5B8D5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강남 테트리스 1위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98378-0F32-4B69-9C29-3AE9846E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00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98216"/>
                </a:solidFill>
              </a:defRPr>
            </a:pPr>
            <a:r>
              <a:rPr sz="2400" b="1">
                <a:solidFill>
                  <a:srgbClr val="B98216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AE99E-AF2C-4AB3-9AB9-D695B861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67125"/>
            <a:ext cx="219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AA82B-09F8-49C1-9A3F-9F16F10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43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도·광역 대회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96A4E-2023-4A18-B746-B5863004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624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서울 대표 선발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99503-603C-4880-B59E-9E41D0CF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00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98216"/>
                </a:solidFill>
              </a:defRPr>
            </a:pPr>
            <a:r>
              <a:rPr sz="2400" b="1">
                <a:solidFill>
                  <a:srgbClr val="B98216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2BA31-E819-4E6B-B1A9-DA1F9B92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67125"/>
            <a:ext cx="219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D46CA-34A9-4CE0-A39F-0026D357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전국 결승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CDC00-F12D-4998-9C20-3743B271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624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4DEEA"/>
                </a:solidFill>
              </a:defRPr>
            </a:pPr>
            <a:r>
              <a:rPr sz="1200" b="0">
                <a:solidFill>
                  <a:srgbClr val="D4DEEA"/>
                </a:solidFill>
              </a:rPr>
              <a:t>전국 랭킹 공개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CA3E5-2365-4A10-895A-D857BC42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000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98216"/>
                </a:solidFill>
              </a:defRPr>
            </a:pPr>
            <a:r>
              <a:rPr sz="2400" b="1">
                <a:solidFill>
                  <a:srgbClr val="B98216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985EC-A504-4C43-B1EB-4ECEEBD2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67125"/>
            <a:ext cx="219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09532-106D-4D93-B2C4-427B81E1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43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브랜드/기획사 연계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69E183-1C1C-47BA-96CF-DB22BE64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624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프로필 제공·스폰서십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CB9A24-25A6-4C0C-BC6A-ACF3879E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4FC086-8EBE-4EAD-A792-96FFFF7A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33081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6EC622-E03A-4520-8854-A49CF6FA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952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789D2-A57C-4E76-B56B-B2C46C9D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C62E1-7D84-45C2-A850-7EEC81A3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미니홈피는 사람을 기억하게 하고, 지역 정보는 행동으로 이어집니다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70AE3-B355-4BEF-BC4D-5FD33DBD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7"/>
                </a:solidFill>
              </a:defRPr>
            </a:pPr>
            <a:r>
              <a:rPr sz="1575" b="0">
                <a:solidFill>
                  <a:srgbClr val="607087"/>
                </a:solidFill>
              </a:rPr>
              <a:t>ONtown의 제품 구조는 개인 공간, 로컬 콘텐츠, 거래/모임, 이벤트가 서로 트래픽을 주고받도록 설계합니다.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90D48-312F-4421-AC48-DD668DB3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FE829-B938-4652-B9DD-C4563F84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1DA3A-B598-4F2A-9268-21A82591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2D4EA-B702-40A4-8782-51F6BBA5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38986-B847-4AA5-BF34-0155FF36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5984A-68A5-4BC0-864B-A7204809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624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미니홈피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22D92-F994-4691-A376-1B69EC2A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프로필, 오늘 상태, BGM, 일상 피드, 방명록, 파도타기, 일촌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34D95-EEFE-4866-97F5-29EF6316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597EF-7EBE-4A49-8A3E-E791978D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52425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B4DC1-A285-416B-8364-2AB0701C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6004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57EFD-9512-4D13-AA29-7BDB1F80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9624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강남픽·생활정보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DAECA-02D3-4462-A1DF-01DB1C64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34340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맛집, 카페, 문화, 공공기관, 교통, 지역 소식 큐레이션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6715A8-412E-4911-82D6-157220CC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FF191-191F-414A-A7E5-0D66549B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89EA4-2C04-445E-BF50-7E4753B6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004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D806F-F7F1-42C9-8FC1-C557E489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624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모임·거래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0C407-A1BD-4828-9B36-EA575880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4340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혼밥 매칭, 동네 모임, 중고거래, 월세·전세 직거래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4EB43-0AD4-46EF-BC32-53836AA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337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F815EF-9A2E-4B6E-B720-157FA1FF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52425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2ED640-8F47-4943-99CB-9A1F4321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6004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GAME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CFE88-3BF6-4ECB-A0F3-5DC6280D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9624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이벤트·랭킹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67DD8C-FB9D-45EF-B174-4FF7494D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34340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지역 대회, 활동 등급, ON 보상, 전국 랭킹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FD9910-1FD0-460E-93B3-8E3D2121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9C5C09-DEDA-40FE-BEE8-9C52A471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7821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CA28AF-6B28-4B21-9C22-5DCD6699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952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BA77A-2D9C-40E3-8E6D-A2B2F4AB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21B86-6DF5-416A-9998-04CC4E15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수익은 지역 사업자, 사용자 꾸미기, 이벤트 스폰서십에서 동시에 발생합니다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2921A-786C-4CE5-A7B5-513A46EC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7"/>
                </a:solidFill>
              </a:defRPr>
            </a:pPr>
            <a:r>
              <a:rPr sz="1575" b="0">
                <a:solidFill>
                  <a:srgbClr val="607087"/>
                </a:solidFill>
              </a:rPr>
              <a:t>초기에는 광고와 입점 상품, 1년차에는 이벤트·ON 재화·파트너 데이터로 매출원을 확장합니다.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203F1-57BC-43EF-BBB7-126CACF7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CDF15-C84F-40D3-99ED-F76D2B5A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9C88C-DE17-4F97-8163-5EF3C473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3622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374EA-6898-4F6C-9C75-7BE06FD9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지역 광고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92FDF-2789-488B-9601-F4743FB8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동네 상권, 맛집, 카페, 병원, 학원 대상 위치 기반 노출 상품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5A542-6B0F-491C-939B-91E9DB0C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23622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FE3AD-F6C1-4D80-88A3-39A3D7C0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05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입점·쿠폰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063C3-3761-475C-8E33-4A0B2479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243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예약, 쿠폰, 체험단, 제휴 상품 판매 수수료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4CE3B-F19E-4053-92C9-5B6C5F8B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23622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1FC18-8DA5-4D8B-8E0A-3CA00B0E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05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ON 재화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29F73-CF55-4982-B70F-8B54F8D5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243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미니홈피 꾸미기, 프로필 프레임, BGM 슬롯, 아바타 상점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C6254-0F5C-4C54-8F06-49F22C9A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23622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97CBD-E65F-4848-909A-B01E381E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05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이벤트 스폰서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C453F-296F-4A64-86FA-F362CFC7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243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지역 대회·전국 대회 후원, 브랜드 챌린지, 랭킹 스폰서십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D549F-0B06-466C-80D0-C9F210B1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66A2C-3F28-4CBC-83F4-2070276F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97329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66EBD9-228E-4753-B96B-4EC8B925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952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DA2FD-70A1-4137-A3BF-8F8D732E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E9257-3B35-4538-83E7-BFE9439F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ONtown은 지역 정보 서비스와 커뮤니티 사이의 빈 공간을 겨냥합니다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7841E-EA3B-4AB1-904C-67BEFD9B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7"/>
                </a:solidFill>
              </a:defRPr>
            </a:pPr>
            <a:r>
              <a:rPr sz="1575" b="0">
                <a:solidFill>
                  <a:srgbClr val="607087"/>
                </a:solidFill>
              </a:rPr>
              <a:t>기존 서비스가 정보 검색이나 거래에 강하다면, ONtown은 지역 정체성과 관계 축적을 중심에 둡니다.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41AAC-A2F2-4B82-8363-8BFDAA5C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6A6D3-BC53-4F3F-9EAF-79E9B2A0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B6D9C-8936-4146-A9BC-9D9A86BB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2B37B-919E-42CA-A6B1-888D715B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E3C23-EF3D-4C3A-A1EB-2EB3078D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FA391-88EE-4557-B940-D94A6AB9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기존 지역 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33A26-49B8-4156-AA38-D81FEF5F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40AE6-3B0F-46CB-BEE6-3446997E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76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SNS/카페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39851-9E8D-4509-BAED-9F262599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43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4F029-2268-440F-9232-10F89E1B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76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ONtown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026C3-7CED-4C0B-8296-27CF72F1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EA5D2-5B40-4DD2-9345-0FCE811E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004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07087"/>
                </a:solidFill>
              </a:defRPr>
            </a:pPr>
            <a:r>
              <a:rPr sz="1200" b="1">
                <a:solidFill>
                  <a:srgbClr val="607087"/>
                </a:solidFill>
              </a:rPr>
              <a:t>핵심 가치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B6CC36-AF8D-422E-9F4E-80B69E8B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766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B7447-80B6-4748-BD26-B67BE403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004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정보/거래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FB515-E740-4B6A-841B-7B545D49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766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4BA4E-7652-45C8-B7CF-E9C13C3D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004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콘텐츠 확산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6EE885-BD4F-4EC4-A2E6-FF1A103E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766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06641-5791-4A54-B5CD-52FEBA6A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004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8216"/>
                </a:solidFill>
              </a:defRPr>
            </a:pPr>
            <a:r>
              <a:rPr sz="1200" b="1">
                <a:solidFill>
                  <a:srgbClr val="B98216"/>
                </a:solidFill>
              </a:rPr>
              <a:t>지역 소속·관계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FCC34C-8042-424C-82AA-B7C945BC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E5BCC6-0E11-4FF4-AC64-30B065C3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148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07087"/>
                </a:solidFill>
              </a:defRPr>
            </a:pPr>
            <a:r>
              <a:rPr sz="1200" b="1">
                <a:solidFill>
                  <a:srgbClr val="607087"/>
                </a:solidFill>
              </a:rPr>
              <a:t>사용자 정체성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B3607E-E46B-4C8A-87B3-D27FBCB4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910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27062E-0C9D-4D1A-A8E8-ADC41666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148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약함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F8E088-D7D3-4613-83AD-F7331099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910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C950DF-A27D-49F3-9086-81477E28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148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개인 중심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2DFEDC-2AC5-498F-86FA-6FCC128D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910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597357-A6F0-482B-A0F7-232717B8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148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8216"/>
                </a:solidFill>
              </a:defRPr>
            </a:pPr>
            <a:r>
              <a:rPr sz="1200" b="1">
                <a:solidFill>
                  <a:srgbClr val="B98216"/>
                </a:solidFill>
              </a:rPr>
              <a:t>지역 태그·클랜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123D7F-64B1-4C9E-860E-98B2C4AE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2CC6BB-74F1-491F-8961-C19E64DE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07087"/>
                </a:solidFill>
              </a:defRPr>
            </a:pPr>
            <a:r>
              <a:rPr sz="1200" b="1">
                <a:solidFill>
                  <a:srgbClr val="607087"/>
                </a:solidFill>
              </a:rPr>
              <a:t>확장 방식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F21B43-D084-4149-8A7B-EF120035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053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656890-543F-42DB-8DA0-DCE1A01B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291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도시별 분산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4AB9EE-9105-4A52-8D84-DD7FE73F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053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CD517E-E684-4B5B-AFA5-A4CC32DB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291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관심사별 분산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671AD6-4990-401F-8219-CE3C7299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053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258768-6EE4-4858-8DC9-53845A0B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8216"/>
                </a:solidFill>
              </a:defRPr>
            </a:pPr>
            <a:r>
              <a:rPr sz="1200" b="1">
                <a:solidFill>
                  <a:srgbClr val="B98216"/>
                </a:solidFill>
              </a:rPr>
              <a:t>지역 ON 네트워크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4EEA93-50E9-445C-AB25-E01A7C75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AE4908-3008-4B24-BAFD-C21CFE7D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435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07087"/>
                </a:solidFill>
              </a:defRPr>
            </a:pPr>
            <a:r>
              <a:rPr sz="1200" b="1">
                <a:solidFill>
                  <a:srgbClr val="607087"/>
                </a:solidFill>
              </a:rPr>
              <a:t>수익 구조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922E29-0F20-4E1D-96C2-8BF789E3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19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1E23A6-B7C9-4498-A6F1-087C9A0B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435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광고/수수료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0D3BEE-8F86-418B-9340-087ED68D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19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2C3957-3205-4ACE-ADD7-8463603F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435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광고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3672FA-1C9E-4321-A074-BDC36A85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19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4788A6-095A-4D26-BD0D-A33AF802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8216"/>
                </a:solidFill>
              </a:defRPr>
            </a:pPr>
            <a:r>
              <a:rPr sz="1200" b="1">
                <a:solidFill>
                  <a:srgbClr val="B98216"/>
                </a:solidFill>
              </a:rPr>
              <a:t>광고+재화+이벤트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B863AC-D9FC-4E1D-A3BE-CB12E0AC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35C6B1-36D8-4408-B239-9E98EC83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972072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89BFD9-86DC-493B-AA8D-75EB0A1C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952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DCD49-3DC8-4934-A7A5-D0B0E55A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7281D-94B7-48FA-A99E-BD89B3AB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1년 안에 강남 검증, 서울 확장, 전국 이벤트 구조까지 만듭니다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DE890-7658-41BA-BB17-18F9670F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7"/>
                </a:solidFill>
              </a:defRPr>
            </a:pPr>
            <a:r>
              <a:rPr sz="1575" b="0">
                <a:solidFill>
                  <a:srgbClr val="607087"/>
                </a:solidFill>
              </a:rPr>
              <a:t>수익 시점은 12개월차 월 손익분기점 기준으로 설계했습니다.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8291D-07C8-4044-A893-475A1E96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5B414-81A8-4963-9ED1-63B11936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0DBA5-8D3B-49F3-B0BB-449167BB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2286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78BC6-C9B1-4434-ADF8-97C02D61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5905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C3EE9-8912-49E1-A551-CD9FB2AD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8DA29-B6F6-46FB-B176-4CF403DA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강남ON 안정화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AC912-888F-4EAA-9D2F-A74892CE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1828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미니홈피·소식·교통·모임 핵심 기능 완성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37644-1803-4308-B4B2-8F2D8E58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09950"/>
            <a:ext cx="2286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EE40C-7F66-4B76-912B-53CACDA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00450"/>
            <a:ext cx="5905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059D1-52C3-4B1F-9E1E-D3DA0AC8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766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Q2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F23DE-15A3-4F01-BA53-06E91391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386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서울 3개 ON 확장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50CF2-C657-413B-B6DB-17CAC647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19600"/>
            <a:ext cx="1828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송파ON·마포ON·성수ON 테스트와 지역 사업자 영업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49C9B-3A93-4DE8-8F0D-55CDAC00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2286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F70BE-6B5C-4300-A9AD-581FB780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00450"/>
            <a:ext cx="5905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46675-2D36-4556-8180-CA353D96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766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Q3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4F66E0-E3C3-4AB9-9573-D201AC49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전국 후보 도시 오픈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AA452-4DD6-461F-9DF8-34CBDC1A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1828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부산·여수·강릉 등 여행/출장 수요 지역 확장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ED01DC-028E-4923-87A2-38261CFD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09950"/>
            <a:ext cx="2286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48B9A4-D832-49E9-8410-6CA2F091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00450"/>
            <a:ext cx="5905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E922E7-6A02-458C-82E0-84E5267D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766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Q4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80AC86-AD8C-4230-943A-849658FF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386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전국 이벤트 론칭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C6B6D8-9732-4F6B-8DB9-2DC285FC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19600"/>
            <a:ext cx="1828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4DEEA"/>
                </a:solidFill>
              </a:defRPr>
            </a:pPr>
            <a:r>
              <a:rPr sz="1275" b="0">
                <a:solidFill>
                  <a:srgbClr val="D4DEEA"/>
                </a:solidFill>
              </a:rPr>
              <a:t>테트리스·얼짱·지역 랭킹 대회와 스폰서십 판매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ACDD07-51B3-4E34-AD9F-D9831BD1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5F2331-FD07-4E6C-A853-31533B6E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07134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E7D8DE-6FA8-4244-AE43-FE468410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952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C3099-624D-473F-8EA4-383E7A57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USE OF FUNDS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FA453-CF92-4765-9069-7F9FA235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필요 자금은 1년 운영 기준 약 1,299,250,000 원입니다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86228-7DA7-4D49-9C84-3DCED44C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7"/>
                </a:solidFill>
              </a:defRPr>
            </a:pPr>
            <a:r>
              <a:rPr sz="1575" b="0">
                <a:solidFill>
                  <a:srgbClr val="607087"/>
                </a:solidFill>
              </a:rPr>
              <a:t>강남 독립 사무실 임대, 8명 내외 팀, 서비스 운영·마케팅·이벤트 비용을 포함했습니다.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0EEF3-AEC9-4301-920B-6E32A07D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92659-4381-4E62-80A8-E7EE235D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204AF-E695-4F40-A1CE-A04DB76E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72390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EF1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37AF3-FFB4-4998-8826-64144237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9567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인건비 및 4대보험/부대비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8B85D-3387-46B3-9D60-87164A6D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95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98216"/>
                </a:solidFill>
              </a:defRPr>
            </a:pPr>
            <a:r>
              <a:rPr sz="1200" b="1">
                <a:solidFill>
                  <a:srgbClr val="B98216"/>
                </a:solidFill>
              </a:rPr>
              <a:t>638,250,000 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ADF2F-9799-4BC0-91C2-0368C36C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72390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F1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356BD-B3DB-44B4-9162-F52B10F5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강남 독립 사무실 보증금·임대료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9DF17-6E27-474E-933D-5FAE87A2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57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98216"/>
                </a:solidFill>
              </a:defRPr>
            </a:pPr>
            <a:r>
              <a:rPr sz="1200" b="1">
                <a:solidFill>
                  <a:srgbClr val="B98216"/>
                </a:solidFill>
              </a:rPr>
              <a:t>152,000,000 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F257E-F82C-4832-A054-3AF462F7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72390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EF1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60A80-CF1D-49C0-A7A8-E1CD1498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957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인프라·API·AI 분석 비용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19C42-6CFF-4435-8659-47B9F16C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19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98216"/>
                </a:solidFill>
              </a:defRPr>
            </a:pPr>
            <a:r>
              <a:rPr sz="1200" b="1">
                <a:solidFill>
                  <a:srgbClr val="B98216"/>
                </a:solidFill>
              </a:rPr>
              <a:t>84,000,000 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E4C6F-9EE5-46CF-8C58-0C868B49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72390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F1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5A264-5129-404A-B8CE-D6828A6B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81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마케팅·콘텐츠 확보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AD964-7271-49B5-877A-C60B5653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815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98216"/>
                </a:solidFill>
              </a:defRPr>
            </a:pPr>
            <a:r>
              <a:rPr sz="1200" b="1">
                <a:solidFill>
                  <a:srgbClr val="B98216"/>
                </a:solidFill>
              </a:rPr>
              <a:t>160,000,000 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D25AD-AD2E-49F3-B732-FFC9CC83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72390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EF1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293CE-4A84-412A-9145-5BDF22E9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4347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지역/전국 이벤트 운영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06A67-C434-4238-919E-49C1EAA6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434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98216"/>
                </a:solidFill>
              </a:defRPr>
            </a:pPr>
            <a:r>
              <a:rPr sz="1200" b="1">
                <a:solidFill>
                  <a:srgbClr val="B98216"/>
                </a:solidFill>
              </a:rPr>
              <a:t>120,000,000 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202C1B-77CA-4FCA-96F8-9FAB42F8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72390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F1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866E1-F43C-4519-884C-F7EED0E4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054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법무·회계·관리비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957CDA-7D95-44D2-80A7-5CA20734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054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98216"/>
                </a:solidFill>
              </a:defRPr>
            </a:pPr>
            <a:r>
              <a:rPr sz="1200" b="1">
                <a:solidFill>
                  <a:srgbClr val="B98216"/>
                </a:solidFill>
              </a:rPr>
              <a:t>35,000,000 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2AFFEF-8375-4A2A-BF0F-61B6135D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72390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EEF1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96582F-F6B6-4B0A-B8CF-E9D2F590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6737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예비비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04090-E4E2-400B-A96E-8F8B23DE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6673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98216"/>
                </a:solidFill>
              </a:defRPr>
            </a:pPr>
            <a:r>
              <a:rPr sz="1200" b="1">
                <a:solidFill>
                  <a:srgbClr val="B98216"/>
                </a:solidFill>
              </a:rPr>
              <a:t>110,000,000 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656CDB-EBC0-4874-98F3-B30B9887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95650"/>
            <a:ext cx="2857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721BEF-9652-46EA-ADCA-C9CA143E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57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총 투자 필요액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716E80-2718-48AB-864C-6ACAEE00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910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6A11C"/>
                </a:solidFill>
              </a:defRPr>
            </a:pPr>
            <a:r>
              <a:rPr sz="1800" b="1">
                <a:solidFill>
                  <a:srgbClr val="D6A11C"/>
                </a:solidFill>
              </a:rPr>
              <a:t>1,299,250,000 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12ACF0-9395-485F-AE84-FC7E6172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86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4DEEA"/>
                </a:solidFill>
              </a:defRPr>
            </a:pPr>
            <a:r>
              <a:rPr sz="1200" b="0">
                <a:solidFill>
                  <a:srgbClr val="D4DEEA"/>
                </a:solidFill>
              </a:rPr>
              <a:t>1년 내 월 손익분기점 도달을 목표로 산정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AB921A-3017-4039-AE1B-F4FFCF90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AA9A8D-E9FA-434D-8B47-D8C1EC1D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23431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82172F-AE14-4861-9026-D94AFE31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952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F4ABB-BCF4-4AAF-8F00-298233D2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TEAM &amp; OFFICE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A33B9-AF69-41AD-86AA-67977189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초기 팀은 제품·기술·성장·운영을 동시에 움직일 수 있어야 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68594-18E8-4C51-B014-12D441B7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7"/>
                </a:solidFill>
              </a:defRPr>
            </a:pPr>
            <a:r>
              <a:rPr sz="1575" b="0">
                <a:solidFill>
                  <a:srgbClr val="607087"/>
                </a:solidFill>
              </a:rPr>
              <a:t>사무실은 강남 독립 사무실 기준으로 산정해 투자자 관점에서 현실적인 고정비를 반영했습니다.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2AD93-C5DF-4505-A32E-FFBF0F45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7CEFE-AFCF-4C88-A812-74E4AC96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B9D8D-48A7-4D97-A260-CA0A8298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4A1C9-8379-4085-984C-925DA67B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0B8CB-987B-43FB-9B5A-A11B1A5C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PEOPLE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1AA06-5194-48EF-96CA-A2585F20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인력 구성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A4DAB-26AF-43F4-BB3B-FD10308D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CEO/Product 60,000,000 원</a:t>
            </a:r>
          </a:p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CTO/Tech Lead 90,000,000 원</a:t>
            </a:r>
          </a:p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개발 3명 200,000,000 원</a:t>
            </a:r>
          </a:p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디자인·마케팅·운영·BD 205,000,000 원</a:t>
            </a:r>
          </a:p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부대비 83,250,000 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08182-D1EC-4273-9E4D-8C934610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A737D-C88D-4513-AC53-513ADA38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52425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D08BF-E647-4A9A-9415-CBCE3993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004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OFFICE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55F55-FF01-4DE3-8AD4-9F1E50D5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624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강남 독립 사무실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4082A-BFB3-4FBF-8AEB-C90DA4B8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34340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보증금 50,000,000 원</a:t>
            </a:r>
          </a:p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월 임대료·관리비 8,500,000 원 × 12개월</a:t>
            </a:r>
          </a:p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연간 합계 152,000,000 원</a:t>
            </a:r>
          </a:p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소호/공유오피스 기준 제외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7BC63-0382-4E66-9E5F-EC52660C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8E677-6D62-4A87-BF3A-9F5A4FAD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CB61B-16B2-4767-A843-FD166266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004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DISCIPLINE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A321F6-E237-4E71-A1FE-DBC3F18F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624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운영 원칙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EFE33-7587-416B-95BA-F08F4694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43400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핵심 기능은 내부 개발</a:t>
            </a:r>
          </a:p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지역 콘텐츠는 운영자가 검수</a:t>
            </a:r>
          </a:p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이벤트와 상점은 매출 검증 중심</a:t>
            </a:r>
          </a:p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12개월차 월 BEP 목표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790694-E726-4BE0-93B6-0BD728F8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9A780-2F4A-4C22-9772-A2D41958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788135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39564D-9CB1-4019-8B81-16D2539D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952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BF23D-E003-4C8F-8C0E-CF8036A3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REVENUE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B2F89-FD9D-49E2-A325-812D9ED8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12개월차 월 매출 145,000,000 원으로 손익분기점을 넘깁니다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07B82-D66B-436C-AE7D-62A79285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7"/>
                </a:solidFill>
              </a:defRPr>
            </a:pPr>
            <a:r>
              <a:rPr sz="1575" b="0">
                <a:solidFill>
                  <a:srgbClr val="607087"/>
                </a:solidFill>
              </a:rPr>
              <a:t>광고와 입점 매출로 시작해 ON 재화와 이벤트 스폰서십을 더하는 구조입니다.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5DF25-8EBF-4CCD-A02D-063A6C2C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1DE00-6D42-4DC9-B477-B6BFFBBF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1BCCB-D5DE-45DA-B13F-1E3F76CB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73818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30C86-4253-4DDF-8419-E81D2C2D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11C"/>
          </a:solidFill>
          <a:ln xmlns:a="http://schemas.openxmlformats.org/drawingml/2006/main" w="9525">
            <a:solidFill>
              <a:srgbClr val="D6A1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8A778-7EEC-41A4-A628-4B879057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10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087"/>
          </a:solidFill>
          <a:ln xmlns:a="http://schemas.openxmlformats.org/drawingml/2006/main" w="9525">
            <a:solidFill>
              <a:srgbClr val="60708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D2C63-7CF6-4F36-A2D1-06BEF5C9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087"/>
                </a:solidFill>
              </a:defRPr>
            </a:pPr>
            <a:r>
              <a:rPr sz="825" b="0">
                <a:solidFill>
                  <a:srgbClr val="607087"/>
                </a:solidFill>
              </a:rPr>
              <a:t>M1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C40BA-C46C-4508-9AE8-56074228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534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11C"/>
          </a:solidFill>
          <a:ln xmlns:a="http://schemas.openxmlformats.org/drawingml/2006/main" w="9525">
            <a:solidFill>
              <a:srgbClr val="D6A1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B04D7-03FD-421B-9399-99683A90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534" y="3971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087"/>
          </a:solidFill>
          <a:ln xmlns:a="http://schemas.openxmlformats.org/drawingml/2006/main" w="9525">
            <a:solidFill>
              <a:srgbClr val="60708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02C12-C046-4DAF-9E2B-552963AC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759" y="5105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087"/>
                </a:solidFill>
              </a:defRPr>
            </a:pPr>
            <a:r>
              <a:rPr sz="825" b="0">
                <a:solidFill>
                  <a:srgbClr val="607087"/>
                </a:solidFill>
              </a:rPr>
              <a:t>M2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40BEE-8425-4334-8F92-E3E0F6BB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693" y="4829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11C"/>
          </a:solidFill>
          <a:ln xmlns:a="http://schemas.openxmlformats.org/drawingml/2006/main" w="9525">
            <a:solidFill>
              <a:srgbClr val="D6A1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464DC-0885-44C4-BA7E-70EE4426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693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087"/>
          </a:solidFill>
          <a:ln xmlns:a="http://schemas.openxmlformats.org/drawingml/2006/main" w="9525">
            <a:solidFill>
              <a:srgbClr val="6070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12569-DF59-494D-B174-F9208679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918" y="5105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087"/>
                </a:solidFill>
              </a:defRPr>
            </a:pPr>
            <a:r>
              <a:rPr sz="825" b="0">
                <a:solidFill>
                  <a:srgbClr val="607087"/>
                </a:solidFill>
              </a:rPr>
              <a:t>M3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27928-4655-4477-B133-032E9EFD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852" y="473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11C"/>
          </a:solidFill>
          <a:ln xmlns:a="http://schemas.openxmlformats.org/drawingml/2006/main" w="9525">
            <a:solidFill>
              <a:srgbClr val="D6A1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F2327-F7C8-46A2-9453-591FD249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852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087"/>
          </a:solidFill>
          <a:ln xmlns:a="http://schemas.openxmlformats.org/drawingml/2006/main" w="9525">
            <a:solidFill>
              <a:srgbClr val="6070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CC8F2-D3A2-4AF5-BF6B-C54E62D9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077" y="5105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087"/>
                </a:solidFill>
              </a:defRPr>
            </a:pPr>
            <a:r>
              <a:rPr sz="825" b="0">
                <a:solidFill>
                  <a:srgbClr val="607087"/>
                </a:solidFill>
              </a:rPr>
              <a:t>M4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81BBE-5AB5-4683-87C3-8DB5A995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011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11C"/>
          </a:solidFill>
          <a:ln xmlns:a="http://schemas.openxmlformats.org/drawingml/2006/main" w="9525">
            <a:solidFill>
              <a:srgbClr val="D6A1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44592-E699-4F48-9545-7690082E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011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087"/>
          </a:solidFill>
          <a:ln xmlns:a="http://schemas.openxmlformats.org/drawingml/2006/main" w="9525">
            <a:solidFill>
              <a:srgbClr val="6070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2C4AA-38B4-4392-92F1-B7BED462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236" y="5105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087"/>
                </a:solidFill>
              </a:defRPr>
            </a:pPr>
            <a:r>
              <a:rPr sz="825" b="0">
                <a:solidFill>
                  <a:srgbClr val="607087"/>
                </a:solidFill>
              </a:rPr>
              <a:t>M5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7250A-06E2-49EF-9097-4B594804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17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11C"/>
          </a:solidFill>
          <a:ln xmlns:a="http://schemas.openxmlformats.org/drawingml/2006/main" w="9525">
            <a:solidFill>
              <a:srgbClr val="D6A11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7DB412-979F-4EF5-8D8F-6225A24F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17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087"/>
          </a:solidFill>
          <a:ln xmlns:a="http://schemas.openxmlformats.org/drawingml/2006/main" w="9525">
            <a:solidFill>
              <a:srgbClr val="60708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43AE70-7B13-45CE-B7C0-80CFD1DF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395" y="5105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087"/>
                </a:solidFill>
              </a:defRPr>
            </a:pPr>
            <a:r>
              <a:rPr sz="825" b="0">
                <a:solidFill>
                  <a:srgbClr val="607087"/>
                </a:solidFill>
              </a:rPr>
              <a:t>M6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FE4C64-B7F5-4020-8814-233C766D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33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11C"/>
          </a:solidFill>
          <a:ln xmlns:a="http://schemas.openxmlformats.org/drawingml/2006/main" w="9525">
            <a:solidFill>
              <a:srgbClr val="D6A11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B018BA-995F-4082-97B4-5EA6D329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33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087"/>
          </a:solidFill>
          <a:ln xmlns:a="http://schemas.openxmlformats.org/drawingml/2006/main" w="9525">
            <a:solidFill>
              <a:srgbClr val="60708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8EDC75-BD4F-40B5-ACBC-769ADFC4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555" y="5105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087"/>
                </a:solidFill>
              </a:defRPr>
            </a:pPr>
            <a:r>
              <a:rPr sz="825" b="0">
                <a:solidFill>
                  <a:srgbClr val="607087"/>
                </a:solidFill>
              </a:rPr>
              <a:t>M7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3AFB12-61CB-4588-8755-3B06DB62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489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11C"/>
          </a:solidFill>
          <a:ln xmlns:a="http://schemas.openxmlformats.org/drawingml/2006/main" w="9525">
            <a:solidFill>
              <a:srgbClr val="D6A11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7EB3A1-77A8-4FCB-AE5B-79F67474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489" y="3743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087"/>
          </a:solidFill>
          <a:ln xmlns:a="http://schemas.openxmlformats.org/drawingml/2006/main" w="9525">
            <a:solidFill>
              <a:srgbClr val="60708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897072-8C6B-4EC6-9E3B-B14FEDC1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714" y="5105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087"/>
                </a:solidFill>
              </a:defRPr>
            </a:pPr>
            <a:r>
              <a:rPr sz="825" b="0">
                <a:solidFill>
                  <a:srgbClr val="607087"/>
                </a:solidFill>
              </a:rPr>
              <a:t>M8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BDCC21-380A-4089-91F7-8D39AC3A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648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11C"/>
          </a:solidFill>
          <a:ln xmlns:a="http://schemas.openxmlformats.org/drawingml/2006/main" w="9525">
            <a:solidFill>
              <a:srgbClr val="D6A11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FAC0FB-976B-45CA-BA61-A6CF8D0F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648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087"/>
          </a:solidFill>
          <a:ln xmlns:a="http://schemas.openxmlformats.org/drawingml/2006/main" w="9525">
            <a:solidFill>
              <a:srgbClr val="60708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618F32-4CB2-4DD9-B2DC-0B1F0F0D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873" y="5105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087"/>
                </a:solidFill>
              </a:defRPr>
            </a:pPr>
            <a:r>
              <a:rPr sz="825" b="0">
                <a:solidFill>
                  <a:srgbClr val="607087"/>
                </a:solidFill>
              </a:rPr>
              <a:t>M9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43C7C9-B27A-4663-BDF1-80334C47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807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11C"/>
          </a:solidFill>
          <a:ln xmlns:a="http://schemas.openxmlformats.org/drawingml/2006/main" w="9525">
            <a:solidFill>
              <a:srgbClr val="D6A11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97CB87-C273-4581-9C2E-C152793B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807" y="3705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087"/>
          </a:solidFill>
          <a:ln xmlns:a="http://schemas.openxmlformats.org/drawingml/2006/main" w="9525">
            <a:solidFill>
              <a:srgbClr val="60708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DEE0F4-867A-4551-80E1-10D93E76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2032" y="5105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087"/>
                </a:solidFill>
              </a:defRPr>
            </a:pPr>
            <a:r>
              <a:rPr sz="825" b="0">
                <a:solidFill>
                  <a:srgbClr val="607087"/>
                </a:solidFill>
              </a:rPr>
              <a:t>M10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80AB87-6A66-4AD7-AF19-8C7CA03E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966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11C"/>
          </a:solidFill>
          <a:ln xmlns:a="http://schemas.openxmlformats.org/drawingml/2006/main" w="9525">
            <a:solidFill>
              <a:srgbClr val="D6A11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A4DF11-5A8C-4DD8-BCF4-98C4FFE8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966" y="3648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087"/>
          </a:solidFill>
          <a:ln xmlns:a="http://schemas.openxmlformats.org/drawingml/2006/main" w="9525">
            <a:solidFill>
              <a:srgbClr val="60708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79BFAA-B376-4B4B-9176-0DFE5943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191" y="5105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087"/>
                </a:solidFill>
              </a:defRPr>
            </a:pPr>
            <a:r>
              <a:rPr sz="825" b="0">
                <a:solidFill>
                  <a:srgbClr val="607087"/>
                </a:solidFill>
              </a:rPr>
              <a:t>M11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BC943A-1398-4859-8DCC-157D3803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81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11C"/>
          </a:solidFill>
          <a:ln xmlns:a="http://schemas.openxmlformats.org/drawingml/2006/main" w="9525">
            <a:solidFill>
              <a:srgbClr val="D6A11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D9A517-DFC6-4EA2-B7EE-89E7F39A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087"/>
          </a:solidFill>
          <a:ln xmlns:a="http://schemas.openxmlformats.org/drawingml/2006/main" w="9525">
            <a:solidFill>
              <a:srgbClr val="60708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F2A138-FE4D-415C-A959-B8085811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105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07087"/>
                </a:solidFill>
              </a:defRPr>
            </a:pPr>
            <a:r>
              <a:rPr sz="825" b="0">
                <a:solidFill>
                  <a:srgbClr val="607087"/>
                </a:solidFill>
              </a:rPr>
              <a:t>M12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1EA3E1-99F9-42D9-8400-D01BBAC4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매출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AE6A2F-5092-423E-9887-2A54958D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087"/>
                </a:solidFill>
              </a:defRPr>
            </a:pPr>
            <a:r>
              <a:rPr sz="1125" b="1">
                <a:solidFill>
                  <a:srgbClr val="607087"/>
                </a:solidFill>
              </a:rPr>
              <a:t>비용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A513A7-396B-4AA6-8B22-770853C7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571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2BF6FD-93CC-4F54-9C5E-21D97F32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57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12개월차 매출 구성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D30A5B-04E8-4674-8BBF-FAEF7412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114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지역 광고 52,000,000 원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상점/쿠폰 32,000,000 원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ON 재화 26,000,000 원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이벤트 스폰서 25,000,000 원</a:t>
            </a:r>
          </a:p>
          <a:p xmlns:a="http://schemas.openxmlformats.org/drawingml/2006/main">
            <a:pPr algn="l">
              <a:defRPr sz="1200" b="0">
                <a:solidFill>
                  <a:srgbClr val="607087"/>
                </a:solidFill>
              </a:defRPr>
            </a:pPr>
            <a:r>
              <a:rPr sz="1200" b="0">
                <a:solidFill>
                  <a:srgbClr val="607087"/>
                </a:solidFill>
              </a:rPr>
              <a:t>데이터/파트너 10,000,000 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31C351-48B8-4859-A242-2C826E72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B4CEF6-0BE6-472F-BA74-36A1492F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705900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B9DE3A-A21A-4FE1-968A-6F700AFA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952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24998-CAF1-4397-B505-63C2B52E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KPI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6D1E2-EDB2-4185-B324-06E23EE3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투자금은 사용자 밀도, 지역 확장, 유료 전환을 만드는 데 투입됩니다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8B4FC-F35B-4CB7-8E03-82D8FFF9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7"/>
                </a:solidFill>
              </a:defRPr>
            </a:pPr>
            <a:r>
              <a:rPr sz="1575" b="0">
                <a:solidFill>
                  <a:srgbClr val="607087"/>
                </a:solidFill>
              </a:rPr>
              <a:t>1년차 KPI는 무리한 전국 동시 확장이 아니라 강남 검증 후 반복 가능한 지역 확장 공식 확보입니다.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876C2-7118-4AE0-A6FC-1811BDD8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7983E-307C-4456-AF22-A65F5F89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B8301-55BF-43D8-8824-AAEB24A3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048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8B22C-D5F0-4215-8BBC-3356AB0D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가입자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20974-30CF-440E-9937-A335C1D9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2590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120,000 명</a:t>
            </a:r>
          </a:p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서울 핵심 지역 중심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B149A-F103-46B7-A309-81833690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3048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295E6-9BD1-46E8-8BA7-8B862564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671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월간 활성 사용자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EE21C-D288-4E8F-AE59-1463A627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86200"/>
            <a:ext cx="2590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45,000 명</a:t>
            </a:r>
          </a:p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미니홈피·모임·강남픽 재방문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E8F9A-488D-4FEC-A908-2BCC6FE5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38500"/>
            <a:ext cx="3048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88420-E3BD-4BE8-A08F-03092021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671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지역 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1272E-93BD-47A0-B7E4-09FDD641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86200"/>
            <a:ext cx="2590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8 개</a:t>
            </a:r>
          </a:p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서울 4개 + 전국 후보 4개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8E89C-F290-4B19-BC55-34233EAB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048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707A13-7E0E-4987-81A6-BB2674D9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제휴 사업자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92F69-B5B0-4E44-B94B-CC49D3FF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2590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450 곳</a:t>
            </a:r>
          </a:p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광고·쿠폰·이벤트 파트너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0A55E-9BFC-409B-80E1-C4E2FABD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95800"/>
            <a:ext cx="3048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C11EC-F7EC-47A5-99D3-FABD95FD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244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월 매출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9C298-663E-4569-B8D2-60CAC1CF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43500"/>
            <a:ext cx="2590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4DEEA"/>
                </a:solidFill>
              </a:defRPr>
            </a:pPr>
            <a:r>
              <a:rPr sz="1275" b="0">
                <a:solidFill>
                  <a:srgbClr val="D4DEEA"/>
                </a:solidFill>
              </a:rPr>
              <a:t>145,000,000 원</a:t>
            </a:r>
          </a:p>
          <a:p xmlns:a="http://schemas.openxmlformats.org/drawingml/2006/main">
            <a:pPr algn="l">
              <a:defRPr sz="1275" b="0">
                <a:solidFill>
                  <a:srgbClr val="D4DEEA"/>
                </a:solidFill>
              </a:defRPr>
            </a:pPr>
            <a:r>
              <a:rPr sz="1275" b="0">
                <a:solidFill>
                  <a:srgbClr val="D4DEEA"/>
                </a:solidFill>
              </a:rPr>
              <a:t>12개월차 BEP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65397-50CF-45EB-A914-59E227C9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3048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F9E55-89B8-46A7-BABF-6D0E0911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244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전국 이벤트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387701-F69D-4028-A9F3-DED7FB3D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43500"/>
            <a:ext cx="2590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3 회</a:t>
            </a:r>
          </a:p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테트리스·얼짱·지역 랭킹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670B44-A2D0-4378-9BAA-2745565A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0DBF48-51C8-4C00-9D2A-D0BC4CDB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632036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4F3EFA-8ECA-4911-B533-3B542E15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952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6FF8E-46F9-479A-830B-6B0B66D0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INVESTMENT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86FB0-66F4-4CAD-A0B8-13AF424B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이번 투자 라운드는 강남 검증 모델을 전국 확장 공식으로 바꾸는 자금입니다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BEBB9-2E4B-489A-AE2D-B7937CF3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7"/>
                </a:solidFill>
              </a:defRPr>
            </a:pPr>
            <a:r>
              <a:rPr sz="1575" b="0">
                <a:solidFill>
                  <a:srgbClr val="607087"/>
                </a:solidFill>
              </a:rPr>
              <a:t>제품 완성, 콘텐츠 확보, 지역 영업, 이벤트 운영을 동시에 실행해 12개월차 수익 시점에 도달합니다.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493FF-46F4-4704-848C-F6975C64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FFFBA-F7CD-4899-B21D-B65C9379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612D8-00FA-4B62-9735-D92CB8AC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953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47F3C-7678-492E-ACC6-2B473675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투자 요청 금액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E5AF3-4E08-4872-A7AB-5255BE32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6A11C"/>
                </a:solidFill>
              </a:defRPr>
            </a:pPr>
            <a:r>
              <a:rPr sz="2325" b="1">
                <a:solidFill>
                  <a:srgbClr val="D6A11C"/>
                </a:solidFill>
              </a:rPr>
              <a:t>1,299,250,000 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CA9D1-246F-443E-9506-CD476EC2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4DEEA"/>
                </a:solidFill>
              </a:defRPr>
            </a:pPr>
            <a:r>
              <a:rPr sz="1275" b="0">
                <a:solidFill>
                  <a:srgbClr val="D4DEEA"/>
                </a:solidFill>
              </a:rPr>
              <a:t>강남 독립 사무실 기준 1년 운영 자금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31703-B3D5-4D55-9F18-4A754707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63E22-11BD-4C8C-8395-0860BA64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02CC0-9925-4AE1-B224-3D26E3B7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862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0D982-9B6C-4FF2-B72E-09559C05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성장 근거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18E7A-23FB-4907-A474-EA8688B6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29150"/>
            <a:ext cx="1924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강남ON 실서비스 기반의 사용자 행동, 지역 태그 데이터, 사업자 반응, 이벤트 참여 지표를 월 단위로 보고합니다.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54D4A-0F05-4DD1-AC94-EA8D68A0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63CCE-6BCD-4993-9556-59B41A92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000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0B817-A01B-4243-BCAE-2E669E3A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862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16E39-C910-4DF3-B3E9-425C81D3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481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다음 라운드 조건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E04039-929E-42AB-9842-7208F190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29150"/>
            <a:ext cx="1924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7"/>
                </a:solidFill>
              </a:defRPr>
            </a:pPr>
            <a:r>
              <a:rPr sz="1050" b="0">
                <a:solidFill>
                  <a:srgbClr val="607087"/>
                </a:solidFill>
              </a:rPr>
              <a:t>서울 핵심 지역 확장, 월 BEP, 제휴 사업자 450곳, 전국 이벤트 3회 달성 후 Series A 논의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5131F-61C5-4892-9BDB-7B065662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581622-E17F-4065-A7EF-57434EA8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185834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A58630-D584-413A-8A61-AA90A4E0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952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B3933-A40D-454A-A912-46290390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59533-167F-4770-864B-512102A1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이번 덱은 원본의 좋은 메시지를 살리고 투자자용 숫자와 실행 계획을 보강했습니다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05E4E-751D-4DB6-9B4F-B20A6930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7"/>
                </a:solidFill>
              </a:defRPr>
            </a:pPr>
            <a:r>
              <a:rPr sz="1575" b="0">
                <a:solidFill>
                  <a:srgbClr val="607087"/>
                </a:solidFill>
              </a:rPr>
              <a:t>원본의 강점인 짧은 메시지, 지역=클랜 관점, 지역 태그 예시, 이벤트 성장 엔진을 유지하면서 예산과 수익 시점을 현실적으로 재정리했습니다.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D7B46-DDF5-4780-8235-10574DA3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A4FF0-5122-40E6-95FA-D0AA6883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7D32D-3322-41A8-8188-D9CC2C48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3333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AF83F-7FBB-4C1A-9D96-5F5CE033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941D0-978E-4070-B480-DC7C43ED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218BF-AED8-406E-83B9-9CBD93C6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차용한 장점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F0425-E0DE-4376-AD1D-7ACD076C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지역을 클랜으로 보는 세계관</a:t>
            </a:r>
          </a:p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지역 태그가 만드는 외지인 데이터</a:t>
            </a:r>
          </a:p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전국 대회로 이어지는 이벤트 구조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DA664-8614-46C5-ABC4-A0963F09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333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A1AE4-0AA5-43B9-8AD3-7BE268EF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52425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8E8A8-DA32-4161-B168-ED7A33DF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004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FIX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93B10-3B40-42CF-A1A2-F755D36A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624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수정한 부분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61481-5BE0-4827-A359-8B63A1A3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34340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예산을 실제 원 단위 금액으로 표기</a:t>
            </a:r>
          </a:p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소호 사무실 제외</a:t>
            </a:r>
          </a:p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강남 독립 사무실 기준 비용 반영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0C2A7-30DE-49A2-A670-30CB8EE6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333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43865-023A-4E9D-B592-D36269B8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24250"/>
            <a:ext cx="895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9D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FC783-0B0B-427B-9C13-121700D2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8216"/>
                </a:solidFill>
              </a:defRPr>
            </a:pPr>
            <a:r>
              <a:rPr sz="1125" b="1">
                <a:solidFill>
                  <a:srgbClr val="B98216"/>
                </a:solidFill>
              </a:rPr>
              <a:t>QA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250C4-E9D3-4D54-8CDC-89B1687B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624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검토 기준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70926-6244-40AD-85CD-B92D0081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4340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슬라이드별 여백과 겹침 점검</a:t>
            </a:r>
          </a:p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금액 표기 통일</a:t>
            </a:r>
          </a:p>
          <a:p xmlns:a="http://schemas.openxmlformats.org/drawingml/2006/main">
            <a:pPr algn="l">
              <a:defRPr sz="1275" b="0">
                <a:solidFill>
                  <a:srgbClr val="607087"/>
                </a:solidFill>
              </a:defRPr>
            </a:pPr>
            <a:r>
              <a:rPr sz="1275" b="0">
                <a:solidFill>
                  <a:srgbClr val="607087"/>
                </a:solidFill>
              </a:rPr>
              <a:t>투자자가 읽는 흐름 중심으로 재배치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A4017-2DB6-4774-A6CF-D8FAE338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ONtown Investor Deck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45614B-A8C9-4F2F-A183-356F97E8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8A2B3"/>
                </a:solidFill>
              </a:defRPr>
            </a:pPr>
            <a:r>
              <a:rPr sz="1050" b="1">
                <a:solidFill>
                  <a:srgbClr val="98A2B3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26281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2026-07-11T11:27:15.6360000Z</dcterms:created>
  <dcterms:modified xsi:type="dcterms:W3CDTF">2026-07-11T11:27:15.6360000Z</dcterms:modified>
</coreProperties>
</file>